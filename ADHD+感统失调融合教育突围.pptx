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81" r:id="rId8"/>
    <p:sldId id="282" r:id="rId9"/>
    <p:sldId id="283" r:id="rId10"/>
    <p:sldId id="260" r:id="rId11"/>
    <p:sldId id="261" r:id="rId12"/>
    <p:sldId id="262" r:id="rId13"/>
    <p:sldId id="263" r:id="rId14"/>
    <p:sldId id="284" r:id="rId15"/>
    <p:sldId id="285" r:id="rId16"/>
    <p:sldId id="286" r:id="rId17"/>
    <p:sldId id="264" r:id="rId18"/>
    <p:sldId id="265" r:id="rId19"/>
    <p:sldId id="266" r:id="rId20"/>
    <p:sldId id="267" r:id="rId21"/>
    <p:sldId id="288" r:id="rId22"/>
    <p:sldId id="287" r:id="rId23"/>
    <p:sldId id="289" r:id="rId24"/>
    <p:sldId id="290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jpe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13.jpe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7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葛晶晶</a:t>
            </a:r>
            <a:endParaRPr lang="zh-CN" altLang="en-US" sz="16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汇报日期：2025/12/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1148715" y="2682240"/>
            <a:ext cx="10134600" cy="1527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ADHD+感统失调</a:t>
            </a:r>
            <a:r>
              <a:rPr lang="zh-CN" alt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案例分析（</a:t>
            </a:r>
            <a:r>
              <a:rPr lang="zh-CN" altLang="en-US" sz="44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小煦</a:t>
            </a:r>
            <a:r>
              <a:rPr lang="en-US" altLang="en-US" sz="44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ˣᵘ</a:t>
            </a:r>
            <a:r>
              <a:rPr lang="zh-CN" alt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endParaRPr lang="zh-CN" altLang="en-US" sz="44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zh-CN" altLang="en-US" sz="44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Case Study of ADHD+ Sensory Integration Dysfunction (Xiaoxu </a:t>
            </a:r>
            <a:r>
              <a:rPr lang="en-US" alt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ˣ</a:t>
            </a:r>
            <a:r>
              <a:rPr lang="en-US" alt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ᵘ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zh-CN" altLang="en-US" sz="44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sz="44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4714240"/>
            <a:ext cx="8354060" cy="77343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2335530"/>
            <a:ext cx="8354060" cy="6635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00578" y="2321367"/>
            <a:ext cx="284480" cy="60960"/>
          </a:xfrm>
          <a:prstGeom prst="rect">
            <a:avLst/>
          </a:prstGeom>
          <a:solidFill>
            <a:srgbClr val="4B62E1"/>
          </a:solidFill>
        </p:spPr>
      </p:sp>
      <p:sp>
        <p:nvSpPr>
          <p:cNvPr id="5" name="Text 1"/>
          <p:cNvSpPr/>
          <p:nvPr/>
        </p:nvSpPr>
        <p:spPr>
          <a:xfrm>
            <a:off x="3700578" y="2321367"/>
            <a:ext cx="284480" cy="60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700578" y="4653996"/>
            <a:ext cx="284480" cy="60960"/>
          </a:xfrm>
          <a:prstGeom prst="rect">
            <a:avLst/>
          </a:prstGeom>
          <a:solidFill>
            <a:srgbClr val="4B62E1"/>
          </a:solidFill>
        </p:spPr>
      </p:sp>
      <p:sp>
        <p:nvSpPr>
          <p:cNvPr id="7" name="Text 3"/>
          <p:cNvSpPr/>
          <p:nvPr/>
        </p:nvSpPr>
        <p:spPr>
          <a:xfrm>
            <a:off x="3700578" y="4653996"/>
            <a:ext cx="284480" cy="60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940318" y="2334158"/>
            <a:ext cx="284480" cy="60960"/>
          </a:xfrm>
          <a:prstGeom prst="rect">
            <a:avLst/>
          </a:prstGeom>
          <a:solidFill>
            <a:srgbClr val="4B62E1"/>
          </a:solidFill>
        </p:spPr>
      </p:sp>
      <p:sp>
        <p:nvSpPr>
          <p:cNvPr id="9" name="Text 5"/>
          <p:cNvSpPr/>
          <p:nvPr/>
        </p:nvSpPr>
        <p:spPr>
          <a:xfrm>
            <a:off x="7940318" y="2334158"/>
            <a:ext cx="284480" cy="60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940318" y="4666787"/>
            <a:ext cx="284480" cy="60960"/>
          </a:xfrm>
          <a:prstGeom prst="rect">
            <a:avLst/>
          </a:prstGeom>
          <a:solidFill>
            <a:srgbClr val="4B62E1"/>
          </a:solidFill>
        </p:spPr>
      </p:sp>
      <p:sp>
        <p:nvSpPr>
          <p:cNvPr id="11" name="Text 7"/>
          <p:cNvSpPr/>
          <p:nvPr/>
        </p:nvSpPr>
        <p:spPr>
          <a:xfrm>
            <a:off x="7940318" y="4666787"/>
            <a:ext cx="284480" cy="60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45210" y="2010410"/>
            <a:ext cx="2663190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67100" y="1473835"/>
            <a:ext cx="1109980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3599815" y="2529840"/>
            <a:ext cx="3813810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困境透视：双症交织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706360" y="1486535"/>
            <a:ext cx="1109980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825740" y="2514600"/>
            <a:ext cx="3813810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实践检视：支持缺口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3467100" y="3806190"/>
            <a:ext cx="1109980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3599815" y="4862830"/>
            <a:ext cx="381444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立法与工具：底线与杠杆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706360" y="3818890"/>
            <a:ext cx="1109980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845425" y="4862830"/>
            <a:ext cx="3814445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系统突围：三维度协同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6090" y="3536315"/>
            <a:ext cx="6607175" cy="920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困境透视：双症交织</a:t>
            </a:r>
            <a:endParaRPr lang="en-US" sz="3400" dirty="0">
              <a:solidFill>
                <a:srgbClr val="0D0D0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000" dirty="0"/>
              <a:t>Perspective on the Predicament: Two Symptoms Intertwined</a:t>
            </a:r>
            <a:endParaRPr lang="en-US" altLang="zh-CN" sz="20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79195" y="995680"/>
            <a:ext cx="9920605" cy="47091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（一）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Personal Profile</a:t>
            </a:r>
            <a:endParaRPr lang="en-US" altLang="zh-CN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小煦</a:t>
            </a:r>
            <a:r>
              <a:rPr lang="en-US" altLang="en-US" sz="2400">
                <a:latin typeface="Arial" panose="020B0604020202020204" pitchFamily="34" charset="0"/>
                <a:ea typeface="微软雅黑" panose="020B0503020204020204" charset="-122"/>
              </a:rPr>
              <a:t>ˣ</a:t>
            </a:r>
            <a:r>
              <a:rPr lang="en-US" altLang="en-US" sz="2400">
                <a:latin typeface="Arial" panose="020B0604020202020204" pitchFamily="34" charset="0"/>
                <a:ea typeface="微软雅黑" panose="020B0503020204020204" charset="-122"/>
              </a:rPr>
              <a:t>ᵘ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，男，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2011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年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5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月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26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日出生，评估时（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2019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年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9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月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1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日）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7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5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个月，就读于南京市板桥小学二年级。医学诊断结果显示，其为注意力缺陷多动障碍（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ADHD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）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（南京市儿童医院确诊），同时伴随感觉统合失调（《儿童感觉统合能力发展评定表》评估：前庭平衡重度失调，标准分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12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；本体感重度失调，标准分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16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；触觉过分防御中度失调，标准分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20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；学习能力发展不足，标准分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11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）。发育里程碑方面，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18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个月会发音，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2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岁能讲简单字词，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3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岁可成句表达，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3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岁时因疝气接受手术，同期在南京脑科医院启动康复训练。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36370" y="995680"/>
            <a:ext cx="9583420" cy="47091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（二）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Family background</a:t>
            </a:r>
            <a:endParaRPr lang="en-US" altLang="zh-CN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小煦家庭为再婚家庭，父母均为高中文化，身心健康且关系和谐。父亲生育时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38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岁，母亲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45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岁（高龄产妇），母亲孕期患有妊娠糖尿病，情绪状态不佳，但营养供给充足；家中有一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28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岁兄长，小煦为二胎。家庭教养模式呈现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过度保护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+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部分严厉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charset="-122"/>
              </a:rPr>
              <a:t>特征：母亲对小煦生活起居照料周全，一年级全程陪读，作业需全程辅导，周末频繁带其参与户外活动（公园、超市、商场等）；父亲相对严厉，小煦犯错时会实施小惩罚（如减少娱乐时间）。</a:t>
            </a:r>
            <a:endParaRPr lang="zh-CN" altLang="en-US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83285" y="720725"/>
            <a:ext cx="10150475" cy="49587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（三）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Core Competence baseline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通过《儿童智力筛查测验》《儿童绘人测验》《瑞文标准推理测验》《孤独症儿童发展评估表》《婴儿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-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初中生社会适应能力量表》及学业评估，小煦核心能力呈现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多领域断层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特征：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智力水平：《儿童智力筛查测验》总分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27.5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分（正常），《瑞文标准推理测验》得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20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分（中等），但《儿童绘人测验》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IQ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仅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67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分（低智能），存在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评估矛盾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社会适应：《婴儿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-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初中生社会适应能力量表》粗分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69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分（标准分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8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分），社会适应功能轻度限制，能力水平相当于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5-6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5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个月儿童，远低于同龄水平；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学业表现：语文识字（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43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个看图汉字全掌握）尚可，但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11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个生字读错、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12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个部首不认识、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6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个整体认读音节不掌握，书写存在倒笔顺；数学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20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以内加减法口算熟练，但数的顺序表达错误、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一共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等应用题概念不理解；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社交与自理：社会交往能力相当于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3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岁儿童，无法维持对话、缺乏主动分享与称赞行为；生活自理仅能独立进食、如厕、穿简单衣物，洗脸、洗澡、洗碗需母亲辅助。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3302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能力全景图：学业社交多域滞后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74750" y="914400"/>
            <a:ext cx="9842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72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57200" y="2463800"/>
            <a:ext cx="345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心理与认知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8194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智力筛查正常，但绘人IQ仅67分，社会交往能力仅相当于3岁儿童。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16400" y="172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4419600" y="2463800"/>
            <a:ext cx="345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学业表现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19600" y="28194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识字尚可，但拼音、部首、应用题理解存在显著困难，书写倒笔顺。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78800" y="172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8382000" y="2463800"/>
            <a:ext cx="345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动作与自理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2000" y="28194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单脚站立、跳跃、剪纸等能力不足，洗脸、洗澡等清洁事务依赖母亲。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4000" y="426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457200" y="4876800"/>
            <a:ext cx="345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社会适应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5232400"/>
            <a:ext cx="34417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社会适应功能轻度限制，处于5-6岁5个月水平，自我管理与独立生活能力严重不足。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16400" y="426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419600" y="5003800"/>
            <a:ext cx="345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情绪与行为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19600" y="53594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情绪调节能力差，存在推人、背后抱人等行为，课堂纪律性差，难以安坐。</a:t>
            </a:r>
            <a:endParaRPr lang="en-US" sz="1600" dirty="0"/>
          </a:p>
        </p:txBody>
      </p:sp>
      <p:pic>
        <p:nvPicPr>
          <p:cNvPr id="20" name="Image 1" descr="https://kimi-web-img.moonshot.cn/img/xpic.x-mol.com/0b785d9a71ecf71b5bf892d8d0bf91d5fd79c170.jpg"/>
          <p:cNvPicPr>
            <a:picLocks noChangeAspect="1"/>
          </p:cNvPicPr>
          <p:nvPr/>
        </p:nvPicPr>
        <p:blipFill>
          <a:blip r:embed="rId2"/>
          <a:srcRect l="4796" r="4796"/>
          <a:stretch>
            <a:fillRect/>
          </a:stretch>
        </p:blipFill>
        <p:spPr>
          <a:xfrm>
            <a:off x="8178800" y="4267200"/>
            <a:ext cx="3759200" cy="2336800"/>
          </a:xfrm>
          <a:prstGeom prst="roundRect">
            <a:avLst>
              <a:gd name="adj" fmla="val 4348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925" y="927100"/>
            <a:ext cx="1042797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执行功能视角：ADHD如何拖垮学习链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427480" y="1854200"/>
            <a:ext cx="909764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执行功能理论认为，ADHD的本质是大脑前额叶皮层的调控缺陷，导致小煦在四个核心环节出现系统性崩溃，形成恶性循环。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922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389063" y="3238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0510" y="-18529"/>
                </a:moveTo>
                <a:cubicBezTo>
                  <a:pt x="23515" y="-25524"/>
                  <a:pt x="12204" y="-25524"/>
                  <a:pt x="5283" y="-18529"/>
                </a:cubicBezTo>
                <a:cubicBezTo>
                  <a:pt x="-1637" y="-11534"/>
                  <a:pt x="-1712" y="-223"/>
                  <a:pt x="5209" y="6772"/>
                </a:cubicBezTo>
                <a:lnTo>
                  <a:pt x="398115" y="399678"/>
                </a:lnTo>
                <a:cubicBezTo>
                  <a:pt x="405110" y="406673"/>
                  <a:pt x="416421" y="406673"/>
                  <a:pt x="423342" y="399678"/>
                </a:cubicBezTo>
                <a:cubicBezTo>
                  <a:pt x="430262" y="392683"/>
                  <a:pt x="430337" y="381372"/>
                  <a:pt x="423342" y="374452"/>
                </a:cubicBezTo>
                <a:lnTo>
                  <a:pt x="351606" y="302716"/>
                </a:lnTo>
                <a:cubicBezTo>
                  <a:pt x="353616" y="300930"/>
                  <a:pt x="355625" y="299145"/>
                  <a:pt x="357560" y="297359"/>
                </a:cubicBezTo>
                <a:cubicBezTo>
                  <a:pt x="392385" y="264988"/>
                  <a:pt x="415677" y="226368"/>
                  <a:pt x="426765" y="199802"/>
                </a:cubicBezTo>
                <a:cubicBezTo>
                  <a:pt x="429220" y="193923"/>
                  <a:pt x="429220" y="187375"/>
                  <a:pt x="426765" y="181496"/>
                </a:cubicBezTo>
                <a:cubicBezTo>
                  <a:pt x="415677" y="154930"/>
                  <a:pt x="392385" y="116235"/>
                  <a:pt x="357560" y="83939"/>
                </a:cubicBezTo>
                <a:cubicBezTo>
                  <a:pt x="322511" y="51420"/>
                  <a:pt x="274365" y="23961"/>
                  <a:pt x="214238" y="23961"/>
                </a:cubicBezTo>
                <a:cubicBezTo>
                  <a:pt x="171971" y="23961"/>
                  <a:pt x="135657" y="37505"/>
                  <a:pt x="105594" y="56852"/>
                </a:cubicBezTo>
                <a:lnTo>
                  <a:pt x="30510" y="-18529"/>
                </a:lnTo>
                <a:close/>
                <a:moveTo>
                  <a:pt x="152177" y="103212"/>
                </a:moveTo>
                <a:cubicBezTo>
                  <a:pt x="169664" y="90711"/>
                  <a:pt x="191170" y="83344"/>
                  <a:pt x="214313" y="83344"/>
                </a:cubicBezTo>
                <a:cubicBezTo>
                  <a:pt x="273472" y="83344"/>
                  <a:pt x="321469" y="131341"/>
                  <a:pt x="321469" y="190500"/>
                </a:cubicBezTo>
                <a:cubicBezTo>
                  <a:pt x="321469" y="213643"/>
                  <a:pt x="314102" y="235074"/>
                  <a:pt x="301600" y="252636"/>
                </a:cubicBezTo>
                <a:lnTo>
                  <a:pt x="275779" y="226814"/>
                </a:lnTo>
                <a:cubicBezTo>
                  <a:pt x="285229" y="210889"/>
                  <a:pt x="288429" y="191319"/>
                  <a:pt x="283294" y="171971"/>
                </a:cubicBezTo>
                <a:cubicBezTo>
                  <a:pt x="273100" y="133871"/>
                  <a:pt x="233883" y="111249"/>
                  <a:pt x="195783" y="121444"/>
                </a:cubicBezTo>
                <a:cubicBezTo>
                  <a:pt x="189384" y="123155"/>
                  <a:pt x="183356" y="125685"/>
                  <a:pt x="177924" y="128885"/>
                </a:cubicBezTo>
                <a:lnTo>
                  <a:pt x="152102" y="103063"/>
                </a:lnTo>
                <a:close/>
                <a:moveTo>
                  <a:pt x="242069" y="294010"/>
                </a:moveTo>
                <a:cubicBezTo>
                  <a:pt x="233214" y="296391"/>
                  <a:pt x="223912" y="297656"/>
                  <a:pt x="214313" y="297656"/>
                </a:cubicBezTo>
                <a:cubicBezTo>
                  <a:pt x="155153" y="297656"/>
                  <a:pt x="107156" y="249659"/>
                  <a:pt x="107156" y="190500"/>
                </a:cubicBezTo>
                <a:cubicBezTo>
                  <a:pt x="107156" y="180901"/>
                  <a:pt x="108421" y="171599"/>
                  <a:pt x="110803" y="162744"/>
                </a:cubicBezTo>
                <a:lnTo>
                  <a:pt x="51643" y="103584"/>
                </a:lnTo>
                <a:cubicBezTo>
                  <a:pt x="27384" y="130969"/>
                  <a:pt x="10716" y="159990"/>
                  <a:pt x="1860" y="181347"/>
                </a:cubicBezTo>
                <a:cubicBezTo>
                  <a:pt x="-595" y="187226"/>
                  <a:pt x="-595" y="193774"/>
                  <a:pt x="1860" y="199653"/>
                </a:cubicBezTo>
                <a:cubicBezTo>
                  <a:pt x="12948" y="226219"/>
                  <a:pt x="36240" y="264914"/>
                  <a:pt x="71065" y="297210"/>
                </a:cubicBezTo>
                <a:cubicBezTo>
                  <a:pt x="106114" y="329729"/>
                  <a:pt x="154260" y="357188"/>
                  <a:pt x="214387" y="357188"/>
                </a:cubicBezTo>
                <a:cubicBezTo>
                  <a:pt x="242143" y="357188"/>
                  <a:pt x="267370" y="351309"/>
                  <a:pt x="289917" y="341858"/>
                </a:cubicBezTo>
                <a:lnTo>
                  <a:pt x="242143" y="294084"/>
                </a:lnTo>
                <a:close/>
              </a:path>
            </a:pathLst>
          </a:custGeom>
          <a:solidFill>
            <a:srgbClr val="007BFF"/>
          </a:solidFill>
        </p:spPr>
      </p:sp>
      <p:sp>
        <p:nvSpPr>
          <p:cNvPr id="7" name="Text 4"/>
          <p:cNvSpPr/>
          <p:nvPr/>
        </p:nvSpPr>
        <p:spPr>
          <a:xfrm>
            <a:off x="838200" y="40386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注意力控制缺陷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5650" y="4343400"/>
            <a:ext cx="1689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无法集中，阅读漏字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46400" y="35560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894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4410075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23812"/>
                </a:moveTo>
                <a:cubicBezTo>
                  <a:pt x="214313" y="10641"/>
                  <a:pt x="203671" y="0"/>
                  <a:pt x="190500" y="0"/>
                </a:cubicBezTo>
                <a:cubicBezTo>
                  <a:pt x="177329" y="0"/>
                  <a:pt x="166688" y="10641"/>
                  <a:pt x="166688" y="23812"/>
                </a:cubicBezTo>
                <a:lnTo>
                  <a:pt x="166688" y="178594"/>
                </a:lnTo>
                <a:cubicBezTo>
                  <a:pt x="166688" y="185142"/>
                  <a:pt x="161330" y="190500"/>
                  <a:pt x="154781" y="190500"/>
                </a:cubicBezTo>
                <a:cubicBezTo>
                  <a:pt x="148233" y="190500"/>
                  <a:pt x="142875" y="185142"/>
                  <a:pt x="142875" y="178594"/>
                </a:cubicBezTo>
                <a:lnTo>
                  <a:pt x="142875" y="47625"/>
                </a:lnTo>
                <a:cubicBezTo>
                  <a:pt x="142875" y="34454"/>
                  <a:pt x="132234" y="23812"/>
                  <a:pt x="119063" y="23812"/>
                </a:cubicBezTo>
                <a:cubicBezTo>
                  <a:pt x="105891" y="23812"/>
                  <a:pt x="95250" y="34454"/>
                  <a:pt x="95250" y="47625"/>
                </a:cubicBezTo>
                <a:lnTo>
                  <a:pt x="95250" y="250031"/>
                </a:lnTo>
                <a:cubicBezTo>
                  <a:pt x="95250" y="251147"/>
                  <a:pt x="95250" y="252338"/>
                  <a:pt x="95324" y="253454"/>
                </a:cubicBezTo>
                <a:lnTo>
                  <a:pt x="50304" y="210592"/>
                </a:lnTo>
                <a:cubicBezTo>
                  <a:pt x="38398" y="199281"/>
                  <a:pt x="19571" y="199727"/>
                  <a:pt x="8186" y="211634"/>
                </a:cubicBezTo>
                <a:cubicBezTo>
                  <a:pt x="-3200" y="223540"/>
                  <a:pt x="-2679" y="242367"/>
                  <a:pt x="9227" y="253752"/>
                </a:cubicBezTo>
                <a:lnTo>
                  <a:pt x="92869" y="333375"/>
                </a:lnTo>
                <a:cubicBezTo>
                  <a:pt x="124941" y="363959"/>
                  <a:pt x="167580" y="381000"/>
                  <a:pt x="211931" y="381000"/>
                </a:cubicBezTo>
                <a:lnTo>
                  <a:pt x="226219" y="381000"/>
                </a:lnTo>
                <a:cubicBezTo>
                  <a:pt x="298549" y="381000"/>
                  <a:pt x="357188" y="322362"/>
                  <a:pt x="357188" y="250031"/>
                </a:cubicBezTo>
                <a:lnTo>
                  <a:pt x="357188" y="95250"/>
                </a:lnTo>
                <a:cubicBezTo>
                  <a:pt x="357188" y="82079"/>
                  <a:pt x="346546" y="71438"/>
                  <a:pt x="333375" y="71438"/>
                </a:cubicBezTo>
                <a:cubicBezTo>
                  <a:pt x="320204" y="71438"/>
                  <a:pt x="309563" y="82079"/>
                  <a:pt x="309563" y="95250"/>
                </a:cubicBezTo>
                <a:lnTo>
                  <a:pt x="309563" y="178594"/>
                </a:lnTo>
                <a:cubicBezTo>
                  <a:pt x="309563" y="185142"/>
                  <a:pt x="304205" y="190500"/>
                  <a:pt x="297656" y="190500"/>
                </a:cubicBezTo>
                <a:cubicBezTo>
                  <a:pt x="291108" y="190500"/>
                  <a:pt x="285750" y="185142"/>
                  <a:pt x="285750" y="178594"/>
                </a:cubicBezTo>
                <a:lnTo>
                  <a:pt x="285750" y="47625"/>
                </a:lnTo>
                <a:cubicBezTo>
                  <a:pt x="285750" y="34454"/>
                  <a:pt x="275109" y="23812"/>
                  <a:pt x="261938" y="23812"/>
                </a:cubicBezTo>
                <a:cubicBezTo>
                  <a:pt x="248766" y="23812"/>
                  <a:pt x="238125" y="34454"/>
                  <a:pt x="238125" y="47625"/>
                </a:cubicBezTo>
                <a:lnTo>
                  <a:pt x="238125" y="178594"/>
                </a:lnTo>
                <a:cubicBezTo>
                  <a:pt x="238125" y="185142"/>
                  <a:pt x="232767" y="190500"/>
                  <a:pt x="226219" y="190500"/>
                </a:cubicBezTo>
                <a:cubicBezTo>
                  <a:pt x="219670" y="190500"/>
                  <a:pt x="214313" y="185142"/>
                  <a:pt x="214313" y="178594"/>
                </a:cubicBezTo>
                <a:lnTo>
                  <a:pt x="214313" y="23812"/>
                </a:lnTo>
                <a:close/>
              </a:path>
            </a:pathLst>
          </a:custGeom>
          <a:solidFill>
            <a:srgbClr val="007BFF"/>
          </a:solidFill>
        </p:spPr>
      </p:sp>
      <p:sp>
        <p:nvSpPr>
          <p:cNvPr id="12" name="Text 9"/>
          <p:cNvSpPr/>
          <p:nvPr/>
        </p:nvSpPr>
        <p:spPr>
          <a:xfrm>
            <a:off x="3937000" y="40386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抑制冲动不足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52850" y="4343400"/>
            <a:ext cx="1689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随意离座，社交推人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35560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0866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407275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21357" y="47625"/>
                  <a:pt x="0" y="68982"/>
                  <a:pt x="0" y="95250"/>
                </a:cubicBezTo>
                <a:lnTo>
                  <a:pt x="0" y="100757"/>
                </a:lnTo>
                <a:cubicBezTo>
                  <a:pt x="0" y="105817"/>
                  <a:pt x="3274" y="110133"/>
                  <a:pt x="7516" y="112886"/>
                </a:cubicBezTo>
                <a:cubicBezTo>
                  <a:pt x="17338" y="119286"/>
                  <a:pt x="23812" y="130299"/>
                  <a:pt x="23812" y="142875"/>
                </a:cubicBezTo>
                <a:cubicBezTo>
                  <a:pt x="23812" y="155451"/>
                  <a:pt x="17338" y="166464"/>
                  <a:pt x="7516" y="172864"/>
                </a:cubicBezTo>
                <a:cubicBezTo>
                  <a:pt x="3274" y="175617"/>
                  <a:pt x="0" y="179933"/>
                  <a:pt x="0" y="184993"/>
                </a:cubicBezTo>
                <a:lnTo>
                  <a:pt x="0" y="226219"/>
                </a:lnTo>
                <a:lnTo>
                  <a:pt x="381000" y="226219"/>
                </a:lnTo>
                <a:lnTo>
                  <a:pt x="381000" y="184993"/>
                </a:lnTo>
                <a:cubicBezTo>
                  <a:pt x="381000" y="179933"/>
                  <a:pt x="377726" y="175617"/>
                  <a:pt x="373484" y="172864"/>
                </a:cubicBezTo>
                <a:cubicBezTo>
                  <a:pt x="363662" y="166464"/>
                  <a:pt x="357188" y="155451"/>
                  <a:pt x="357188" y="142875"/>
                </a:cubicBezTo>
                <a:cubicBezTo>
                  <a:pt x="357188" y="130299"/>
                  <a:pt x="363662" y="119286"/>
                  <a:pt x="373484" y="112886"/>
                </a:cubicBezTo>
                <a:cubicBezTo>
                  <a:pt x="377726" y="110133"/>
                  <a:pt x="381000" y="105817"/>
                  <a:pt x="381000" y="100757"/>
                </a:cubicBezTo>
                <a:lnTo>
                  <a:pt x="381000" y="95250"/>
                </a:lnTo>
                <a:cubicBezTo>
                  <a:pt x="381000" y="68982"/>
                  <a:pt x="359643" y="47625"/>
                  <a:pt x="333375" y="47625"/>
                </a:cubicBezTo>
                <a:lnTo>
                  <a:pt x="47625" y="47625"/>
                </a:lnTo>
                <a:close/>
                <a:moveTo>
                  <a:pt x="381000" y="309563"/>
                </a:moveTo>
                <a:lnTo>
                  <a:pt x="381000" y="261938"/>
                </a:lnTo>
                <a:lnTo>
                  <a:pt x="0" y="261938"/>
                </a:lnTo>
                <a:lnTo>
                  <a:pt x="0" y="309563"/>
                </a:lnTo>
                <a:cubicBezTo>
                  <a:pt x="0" y="322734"/>
                  <a:pt x="10641" y="333375"/>
                  <a:pt x="23812" y="333375"/>
                </a:cubicBezTo>
                <a:lnTo>
                  <a:pt x="71438" y="333375"/>
                </a:lnTo>
                <a:lnTo>
                  <a:pt x="71438" y="315516"/>
                </a:lnTo>
                <a:cubicBezTo>
                  <a:pt x="71438" y="305619"/>
                  <a:pt x="79400" y="297656"/>
                  <a:pt x="89297" y="297656"/>
                </a:cubicBezTo>
                <a:cubicBezTo>
                  <a:pt x="99194" y="297656"/>
                  <a:pt x="107156" y="305619"/>
                  <a:pt x="107156" y="315516"/>
                </a:cubicBezTo>
                <a:lnTo>
                  <a:pt x="107156" y="333375"/>
                </a:lnTo>
                <a:lnTo>
                  <a:pt x="172641" y="333375"/>
                </a:lnTo>
                <a:lnTo>
                  <a:pt x="172641" y="315516"/>
                </a:lnTo>
                <a:cubicBezTo>
                  <a:pt x="172641" y="305619"/>
                  <a:pt x="180603" y="297656"/>
                  <a:pt x="190500" y="297656"/>
                </a:cubicBezTo>
                <a:cubicBezTo>
                  <a:pt x="200397" y="297656"/>
                  <a:pt x="208359" y="305619"/>
                  <a:pt x="208359" y="315516"/>
                </a:cubicBezTo>
                <a:lnTo>
                  <a:pt x="208359" y="333375"/>
                </a:lnTo>
                <a:lnTo>
                  <a:pt x="273844" y="333375"/>
                </a:lnTo>
                <a:lnTo>
                  <a:pt x="273844" y="315516"/>
                </a:lnTo>
                <a:cubicBezTo>
                  <a:pt x="273844" y="305619"/>
                  <a:pt x="281806" y="297656"/>
                  <a:pt x="291703" y="297656"/>
                </a:cubicBezTo>
                <a:cubicBezTo>
                  <a:pt x="301600" y="297656"/>
                  <a:pt x="309563" y="305619"/>
                  <a:pt x="309563" y="315516"/>
                </a:cubicBezTo>
                <a:lnTo>
                  <a:pt x="309563" y="333375"/>
                </a:lnTo>
                <a:lnTo>
                  <a:pt x="357188" y="333375"/>
                </a:lnTo>
                <a:cubicBezTo>
                  <a:pt x="370359" y="333375"/>
                  <a:pt x="381000" y="322734"/>
                  <a:pt x="381000" y="309563"/>
                </a:cubicBezTo>
                <a:close/>
                <a:moveTo>
                  <a:pt x="119063" y="119063"/>
                </a:moveTo>
                <a:lnTo>
                  <a:pt x="119063" y="166688"/>
                </a:lnTo>
                <a:cubicBezTo>
                  <a:pt x="119063" y="179859"/>
                  <a:pt x="108421" y="190500"/>
                  <a:pt x="95250" y="190500"/>
                </a:cubicBezTo>
                <a:cubicBezTo>
                  <a:pt x="82079" y="190500"/>
                  <a:pt x="71438" y="179859"/>
                  <a:pt x="71438" y="166688"/>
                </a:cubicBezTo>
                <a:lnTo>
                  <a:pt x="71438" y="119063"/>
                </a:lnTo>
                <a:cubicBezTo>
                  <a:pt x="71438" y="105891"/>
                  <a:pt x="82079" y="95250"/>
                  <a:pt x="95250" y="95250"/>
                </a:cubicBezTo>
                <a:cubicBezTo>
                  <a:pt x="108421" y="95250"/>
                  <a:pt x="119063" y="105891"/>
                  <a:pt x="119063" y="119063"/>
                </a:cubicBezTo>
                <a:close/>
                <a:moveTo>
                  <a:pt x="214313" y="119063"/>
                </a:moveTo>
                <a:lnTo>
                  <a:pt x="214313" y="166688"/>
                </a:lnTo>
                <a:cubicBezTo>
                  <a:pt x="214313" y="179859"/>
                  <a:pt x="203671" y="190500"/>
                  <a:pt x="190500" y="190500"/>
                </a:cubicBezTo>
                <a:cubicBezTo>
                  <a:pt x="177329" y="190500"/>
                  <a:pt x="166688" y="179859"/>
                  <a:pt x="166688" y="166688"/>
                </a:cubicBezTo>
                <a:lnTo>
                  <a:pt x="166688" y="119063"/>
                </a:lnTo>
                <a:cubicBezTo>
                  <a:pt x="166688" y="105891"/>
                  <a:pt x="177329" y="95250"/>
                  <a:pt x="190500" y="95250"/>
                </a:cubicBezTo>
                <a:cubicBezTo>
                  <a:pt x="203671" y="95250"/>
                  <a:pt x="214313" y="105891"/>
                  <a:pt x="214313" y="119063"/>
                </a:cubicBezTo>
                <a:close/>
                <a:moveTo>
                  <a:pt x="309563" y="119063"/>
                </a:moveTo>
                <a:lnTo>
                  <a:pt x="309563" y="166688"/>
                </a:lnTo>
                <a:cubicBezTo>
                  <a:pt x="309563" y="179859"/>
                  <a:pt x="298921" y="190500"/>
                  <a:pt x="285750" y="190500"/>
                </a:cubicBezTo>
                <a:cubicBezTo>
                  <a:pt x="272579" y="190500"/>
                  <a:pt x="261938" y="179859"/>
                  <a:pt x="261938" y="166688"/>
                </a:cubicBezTo>
                <a:lnTo>
                  <a:pt x="261938" y="119063"/>
                </a:lnTo>
                <a:cubicBezTo>
                  <a:pt x="261938" y="105891"/>
                  <a:pt x="272579" y="95250"/>
                  <a:pt x="285750" y="95250"/>
                </a:cubicBezTo>
                <a:cubicBezTo>
                  <a:pt x="298921" y="95250"/>
                  <a:pt x="309563" y="105891"/>
                  <a:pt x="309563" y="119063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7" name="Text 14"/>
          <p:cNvSpPr/>
          <p:nvPr/>
        </p:nvSpPr>
        <p:spPr>
          <a:xfrm>
            <a:off x="6934200" y="40386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工作记忆薄弱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16750" y="43434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长句复述困难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940800" y="35560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0838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10404475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9566" y="27012"/>
                </a:moveTo>
                <a:cubicBezTo>
                  <a:pt x="107677" y="32668"/>
                  <a:pt x="109612" y="43830"/>
                  <a:pt x="103956" y="51867"/>
                </a:cubicBezTo>
                <a:lnTo>
                  <a:pt x="62285" y="111398"/>
                </a:lnTo>
                <a:cubicBezTo>
                  <a:pt x="59234" y="115714"/>
                  <a:pt x="54471" y="118467"/>
                  <a:pt x="49188" y="118914"/>
                </a:cubicBezTo>
                <a:cubicBezTo>
                  <a:pt x="43904" y="119360"/>
                  <a:pt x="38695" y="117574"/>
                  <a:pt x="34975" y="113854"/>
                </a:cubicBezTo>
                <a:lnTo>
                  <a:pt x="5209" y="84088"/>
                </a:lnTo>
                <a:cubicBezTo>
                  <a:pt x="-1712" y="77093"/>
                  <a:pt x="-1712" y="65782"/>
                  <a:pt x="5209" y="58787"/>
                </a:cubicBezTo>
                <a:cubicBezTo>
                  <a:pt x="12129" y="51792"/>
                  <a:pt x="23515" y="51867"/>
                  <a:pt x="30510" y="58787"/>
                </a:cubicBezTo>
                <a:lnTo>
                  <a:pt x="45244" y="73521"/>
                </a:lnTo>
                <a:lnTo>
                  <a:pt x="74712" y="31403"/>
                </a:lnTo>
                <a:cubicBezTo>
                  <a:pt x="80367" y="23292"/>
                  <a:pt x="91529" y="21357"/>
                  <a:pt x="99566" y="27012"/>
                </a:cubicBezTo>
                <a:close/>
                <a:moveTo>
                  <a:pt x="99566" y="146075"/>
                </a:moveTo>
                <a:cubicBezTo>
                  <a:pt x="107677" y="151730"/>
                  <a:pt x="109612" y="162892"/>
                  <a:pt x="103956" y="170929"/>
                </a:cubicBezTo>
                <a:lnTo>
                  <a:pt x="62285" y="230460"/>
                </a:lnTo>
                <a:cubicBezTo>
                  <a:pt x="59234" y="234776"/>
                  <a:pt x="54471" y="237530"/>
                  <a:pt x="49188" y="237976"/>
                </a:cubicBezTo>
                <a:cubicBezTo>
                  <a:pt x="43904" y="238423"/>
                  <a:pt x="38695" y="236637"/>
                  <a:pt x="34975" y="232916"/>
                </a:cubicBezTo>
                <a:lnTo>
                  <a:pt x="5209" y="203150"/>
                </a:lnTo>
                <a:cubicBezTo>
                  <a:pt x="-1786" y="196155"/>
                  <a:pt x="-1786" y="184845"/>
                  <a:pt x="5209" y="177924"/>
                </a:cubicBezTo>
                <a:cubicBezTo>
                  <a:pt x="12204" y="171004"/>
                  <a:pt x="23515" y="170929"/>
                  <a:pt x="30435" y="177924"/>
                </a:cubicBezTo>
                <a:lnTo>
                  <a:pt x="45169" y="192658"/>
                </a:lnTo>
                <a:lnTo>
                  <a:pt x="74637" y="150540"/>
                </a:lnTo>
                <a:cubicBezTo>
                  <a:pt x="80293" y="142429"/>
                  <a:pt x="91455" y="140494"/>
                  <a:pt x="99492" y="146149"/>
                </a:cubicBezTo>
                <a:close/>
                <a:moveTo>
                  <a:pt x="166688" y="71438"/>
                </a:moveTo>
                <a:cubicBezTo>
                  <a:pt x="166688" y="58266"/>
                  <a:pt x="177329" y="47625"/>
                  <a:pt x="190500" y="47625"/>
                </a:cubicBezTo>
                <a:lnTo>
                  <a:pt x="357188" y="47625"/>
                </a:lnTo>
                <a:cubicBezTo>
                  <a:pt x="370359" y="47625"/>
                  <a:pt x="381000" y="58266"/>
                  <a:pt x="381000" y="71438"/>
                </a:cubicBezTo>
                <a:cubicBezTo>
                  <a:pt x="381000" y="84609"/>
                  <a:pt x="370359" y="95250"/>
                  <a:pt x="357188" y="95250"/>
                </a:cubicBezTo>
                <a:lnTo>
                  <a:pt x="190500" y="95250"/>
                </a:lnTo>
                <a:cubicBezTo>
                  <a:pt x="177329" y="95250"/>
                  <a:pt x="166688" y="84609"/>
                  <a:pt x="166688" y="71438"/>
                </a:cubicBezTo>
                <a:close/>
                <a:moveTo>
                  <a:pt x="166688" y="190500"/>
                </a:moveTo>
                <a:cubicBezTo>
                  <a:pt x="166688" y="177329"/>
                  <a:pt x="177329" y="166688"/>
                  <a:pt x="190500" y="166688"/>
                </a:cubicBez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190500" y="214313"/>
                </a:lnTo>
                <a:cubicBezTo>
                  <a:pt x="177329" y="214313"/>
                  <a:pt x="166688" y="203671"/>
                  <a:pt x="166688" y="190500"/>
                </a:cubicBezTo>
                <a:close/>
                <a:moveTo>
                  <a:pt x="119063" y="309563"/>
                </a:moveTo>
                <a:cubicBezTo>
                  <a:pt x="119063" y="296391"/>
                  <a:pt x="129704" y="285750"/>
                  <a:pt x="142875" y="285750"/>
                </a:cubicBezTo>
                <a:lnTo>
                  <a:pt x="357188" y="285750"/>
                </a:lnTo>
                <a:cubicBezTo>
                  <a:pt x="370359" y="285750"/>
                  <a:pt x="381000" y="296391"/>
                  <a:pt x="381000" y="309563"/>
                </a:cubicBezTo>
                <a:cubicBezTo>
                  <a:pt x="381000" y="322734"/>
                  <a:pt x="370359" y="333375"/>
                  <a:pt x="357188" y="333375"/>
                </a:cubicBezTo>
                <a:lnTo>
                  <a:pt x="142875" y="333375"/>
                </a:lnTo>
                <a:cubicBezTo>
                  <a:pt x="129704" y="333375"/>
                  <a:pt x="119063" y="322734"/>
                  <a:pt x="119063" y="309563"/>
                </a:cubicBezTo>
                <a:close/>
                <a:moveTo>
                  <a:pt x="47625" y="279797"/>
                </a:moveTo>
                <a:cubicBezTo>
                  <a:pt x="64053" y="279797"/>
                  <a:pt x="77391" y="293134"/>
                  <a:pt x="77391" y="309563"/>
                </a:cubicBezTo>
                <a:cubicBezTo>
                  <a:pt x="77391" y="325991"/>
                  <a:pt x="64053" y="339328"/>
                  <a:pt x="47625" y="339328"/>
                </a:cubicBezTo>
                <a:cubicBezTo>
                  <a:pt x="31197" y="339328"/>
                  <a:pt x="17859" y="325991"/>
                  <a:pt x="17859" y="309563"/>
                </a:cubicBezTo>
                <a:cubicBezTo>
                  <a:pt x="17859" y="293134"/>
                  <a:pt x="31197" y="279797"/>
                  <a:pt x="47625" y="279797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22" name="Text 19"/>
          <p:cNvSpPr/>
          <p:nvPr/>
        </p:nvSpPr>
        <p:spPr>
          <a:xfrm>
            <a:off x="9931400" y="40386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计划组织欠缺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747250" y="4343400"/>
            <a:ext cx="1689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依赖性强，逃避难题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4000" y="49022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C3545">
              <a:alpha val="10196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355600" y="5054600"/>
            <a:ext cx="1148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DC354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恶性循环：注意力不集中 → 学业受挫 → 行为问题加剧 → 社交隔离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web-img.moonshot.cn/img/thumbs.dreamstime.com/afd0c0e4ed1db7a46fd8f67f89d0b961954df2ac.jpg"/>
          <p:cNvPicPr>
            <a:picLocks noChangeAspect="1"/>
          </p:cNvPicPr>
          <p:nvPr/>
        </p:nvPicPr>
        <p:blipFill>
          <a:blip r:embed="rId2"/>
          <a:srcRect l="33023" r="33023"/>
          <a:stretch>
            <a:fillRect/>
          </a:stretch>
        </p:blipFill>
        <p:spPr>
          <a:xfrm>
            <a:off x="909320" y="2042160"/>
            <a:ext cx="3747770" cy="4297680"/>
          </a:xfrm>
          <a:prstGeom prst="roundRect">
            <a:avLst>
              <a:gd name="adj" fmla="val 2752"/>
            </a:avLst>
          </a:prstGeom>
        </p:spPr>
      </p:pic>
      <p:sp>
        <p:nvSpPr>
          <p:cNvPr id="4" name="Text 0"/>
          <p:cNvSpPr/>
          <p:nvPr/>
        </p:nvSpPr>
        <p:spPr>
          <a:xfrm>
            <a:off x="3766185" y="751205"/>
            <a:ext cx="651065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Ayres感统视角：失调如何放大多动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096000" y="2108200"/>
            <a:ext cx="5943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Ayres理论指出，感觉统合失调并非简单的“运动笨拙”，它会直接加剧ADHD的核心症状，成为隐形的放大器。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138704" y="3022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70366" y="37148"/>
                </a:moveTo>
                <a:cubicBezTo>
                  <a:pt x="60424" y="33814"/>
                  <a:pt x="55007" y="22979"/>
                  <a:pt x="58341" y="13037"/>
                </a:cubicBezTo>
                <a:cubicBezTo>
                  <a:pt x="61674" y="3096"/>
                  <a:pt x="72450" y="-2322"/>
                  <a:pt x="82451" y="953"/>
                </a:cubicBezTo>
                <a:lnTo>
                  <a:pt x="149721" y="23396"/>
                </a:lnTo>
                <a:cubicBezTo>
                  <a:pt x="157996" y="9406"/>
                  <a:pt x="173295" y="0"/>
                  <a:pt x="190738" y="0"/>
                </a:cubicBezTo>
                <a:cubicBezTo>
                  <a:pt x="217051" y="0"/>
                  <a:pt x="238363" y="21312"/>
                  <a:pt x="238363" y="47625"/>
                </a:cubicBezTo>
                <a:cubicBezTo>
                  <a:pt x="238363" y="49411"/>
                  <a:pt x="238244" y="51137"/>
                  <a:pt x="238065" y="52864"/>
                </a:cubicBezTo>
                <a:lnTo>
                  <a:pt x="311051" y="77212"/>
                </a:lnTo>
                <a:cubicBezTo>
                  <a:pt x="321052" y="80546"/>
                  <a:pt x="326410" y="91321"/>
                  <a:pt x="323076" y="101322"/>
                </a:cubicBezTo>
                <a:cubicBezTo>
                  <a:pt x="319742" y="111323"/>
                  <a:pt x="308967" y="116681"/>
                  <a:pt x="298966" y="113347"/>
                </a:cubicBezTo>
                <a:lnTo>
                  <a:pt x="218301" y="86439"/>
                </a:lnTo>
                <a:cubicBezTo>
                  <a:pt x="215622" y="88344"/>
                  <a:pt x="212765" y="89952"/>
                  <a:pt x="209729" y="91321"/>
                </a:cubicBezTo>
                <a:lnTo>
                  <a:pt x="209729" y="285810"/>
                </a:lnTo>
                <a:cubicBezTo>
                  <a:pt x="209729" y="296347"/>
                  <a:pt x="201216" y="304860"/>
                  <a:pt x="190679" y="304860"/>
                </a:cubicBezTo>
                <a:lnTo>
                  <a:pt x="76379" y="304860"/>
                </a:lnTo>
                <a:cubicBezTo>
                  <a:pt x="65842" y="304860"/>
                  <a:pt x="57329" y="296347"/>
                  <a:pt x="57329" y="285810"/>
                </a:cubicBezTo>
                <a:cubicBezTo>
                  <a:pt x="57329" y="275272"/>
                  <a:pt x="65842" y="266760"/>
                  <a:pt x="76379" y="266760"/>
                </a:cubicBezTo>
                <a:lnTo>
                  <a:pt x="171629" y="266760"/>
                </a:lnTo>
                <a:lnTo>
                  <a:pt x="171629" y="91321"/>
                </a:lnTo>
                <a:cubicBezTo>
                  <a:pt x="159127" y="85844"/>
                  <a:pt x="149483" y="75247"/>
                  <a:pt x="145316" y="62151"/>
                </a:cubicBezTo>
                <a:lnTo>
                  <a:pt x="70366" y="37147"/>
                </a:lnTo>
                <a:close/>
                <a:moveTo>
                  <a:pt x="119539" y="171450"/>
                </a:moveTo>
                <a:lnTo>
                  <a:pt x="76379" y="97512"/>
                </a:lnTo>
                <a:lnTo>
                  <a:pt x="33278" y="171450"/>
                </a:lnTo>
                <a:lnTo>
                  <a:pt x="119539" y="171450"/>
                </a:lnTo>
                <a:close/>
                <a:moveTo>
                  <a:pt x="76438" y="228600"/>
                </a:moveTo>
                <a:cubicBezTo>
                  <a:pt x="38993" y="228600"/>
                  <a:pt x="7858" y="208359"/>
                  <a:pt x="1429" y="181630"/>
                </a:cubicBezTo>
                <a:cubicBezTo>
                  <a:pt x="-119" y="175081"/>
                  <a:pt x="2024" y="168354"/>
                  <a:pt x="5417" y="162520"/>
                </a:cubicBezTo>
                <a:lnTo>
                  <a:pt x="62091" y="65365"/>
                </a:lnTo>
                <a:cubicBezTo>
                  <a:pt x="65068" y="60246"/>
                  <a:pt x="70545" y="57150"/>
                  <a:pt x="76438" y="57150"/>
                </a:cubicBezTo>
                <a:cubicBezTo>
                  <a:pt x="82332" y="57150"/>
                  <a:pt x="87809" y="60305"/>
                  <a:pt x="90785" y="65365"/>
                </a:cubicBezTo>
                <a:lnTo>
                  <a:pt x="147459" y="162520"/>
                </a:lnTo>
                <a:cubicBezTo>
                  <a:pt x="150852" y="168354"/>
                  <a:pt x="152995" y="175081"/>
                  <a:pt x="151448" y="181630"/>
                </a:cubicBezTo>
                <a:cubicBezTo>
                  <a:pt x="145018" y="208300"/>
                  <a:pt x="113883" y="228600"/>
                  <a:pt x="76438" y="228600"/>
                </a:cubicBezTo>
                <a:close/>
                <a:moveTo>
                  <a:pt x="304324" y="173712"/>
                </a:moveTo>
                <a:lnTo>
                  <a:pt x="261223" y="247650"/>
                </a:lnTo>
                <a:lnTo>
                  <a:pt x="347484" y="247650"/>
                </a:lnTo>
                <a:lnTo>
                  <a:pt x="304383" y="173712"/>
                </a:lnTo>
                <a:close/>
                <a:moveTo>
                  <a:pt x="379333" y="257830"/>
                </a:moveTo>
                <a:cubicBezTo>
                  <a:pt x="372904" y="284559"/>
                  <a:pt x="341769" y="304800"/>
                  <a:pt x="304324" y="304800"/>
                </a:cubicBezTo>
                <a:cubicBezTo>
                  <a:pt x="266879" y="304800"/>
                  <a:pt x="235744" y="284559"/>
                  <a:pt x="229314" y="257830"/>
                </a:cubicBezTo>
                <a:cubicBezTo>
                  <a:pt x="227767" y="251281"/>
                  <a:pt x="229910" y="244554"/>
                  <a:pt x="233303" y="238720"/>
                </a:cubicBezTo>
                <a:lnTo>
                  <a:pt x="289977" y="141565"/>
                </a:lnTo>
                <a:cubicBezTo>
                  <a:pt x="292953" y="136446"/>
                  <a:pt x="298430" y="133350"/>
                  <a:pt x="304324" y="133350"/>
                </a:cubicBezTo>
                <a:cubicBezTo>
                  <a:pt x="310217" y="133350"/>
                  <a:pt x="315694" y="136505"/>
                  <a:pt x="318671" y="141565"/>
                </a:cubicBezTo>
                <a:lnTo>
                  <a:pt x="375345" y="238720"/>
                </a:lnTo>
                <a:cubicBezTo>
                  <a:pt x="378738" y="244554"/>
                  <a:pt x="380881" y="251281"/>
                  <a:pt x="379333" y="257830"/>
                </a:cubicBezTo>
                <a:close/>
              </a:path>
            </a:pathLst>
          </a:custGeom>
          <a:solidFill>
            <a:srgbClr val="FFC107"/>
          </a:solidFill>
        </p:spPr>
      </p:sp>
      <p:sp>
        <p:nvSpPr>
          <p:cNvPr id="7" name="Text 3"/>
          <p:cNvSpPr/>
          <p:nvPr/>
        </p:nvSpPr>
        <p:spPr>
          <a:xfrm>
            <a:off x="6714808" y="30226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前庭与本体感失调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714808" y="3327400"/>
            <a:ext cx="530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身体为维持平衡不断微调，消耗大量认知资源，导致学习时注意力分散。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45530" y="4038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0"/>
                </a:moveTo>
                <a:cubicBezTo>
                  <a:pt x="201037" y="0"/>
                  <a:pt x="209550" y="8513"/>
                  <a:pt x="209550" y="19050"/>
                </a:cubicBezTo>
                <a:lnTo>
                  <a:pt x="209550" y="142875"/>
                </a:lnTo>
                <a:cubicBezTo>
                  <a:pt x="209550" y="148114"/>
                  <a:pt x="213836" y="152400"/>
                  <a:pt x="219075" y="152400"/>
                </a:cubicBezTo>
                <a:cubicBezTo>
                  <a:pt x="224314" y="152400"/>
                  <a:pt x="228600" y="148114"/>
                  <a:pt x="228600" y="142875"/>
                </a:cubicBezTo>
                <a:lnTo>
                  <a:pt x="228600" y="38100"/>
                </a:lnTo>
                <a:cubicBezTo>
                  <a:pt x="228600" y="27563"/>
                  <a:pt x="237113" y="19050"/>
                  <a:pt x="247650" y="19050"/>
                </a:cubicBezTo>
                <a:cubicBezTo>
                  <a:pt x="258187" y="19050"/>
                  <a:pt x="266700" y="27563"/>
                  <a:pt x="266700" y="38100"/>
                </a:cubicBezTo>
                <a:lnTo>
                  <a:pt x="266700" y="142875"/>
                </a:lnTo>
                <a:cubicBezTo>
                  <a:pt x="266700" y="148114"/>
                  <a:pt x="270986" y="152400"/>
                  <a:pt x="276225" y="152400"/>
                </a:cubicBezTo>
                <a:cubicBezTo>
                  <a:pt x="281464" y="152400"/>
                  <a:pt x="285750" y="148114"/>
                  <a:pt x="285750" y="142875"/>
                </a:cubicBezTo>
                <a:lnTo>
                  <a:pt x="285750" y="76200"/>
                </a:lnTo>
                <a:cubicBezTo>
                  <a:pt x="285750" y="65663"/>
                  <a:pt x="294263" y="57150"/>
                  <a:pt x="304800" y="57150"/>
                </a:cubicBezTo>
                <a:cubicBezTo>
                  <a:pt x="315337" y="57150"/>
                  <a:pt x="323850" y="65663"/>
                  <a:pt x="323850" y="76200"/>
                </a:cubicBezTo>
                <a:lnTo>
                  <a:pt x="323850" y="182285"/>
                </a:lnTo>
                <a:cubicBezTo>
                  <a:pt x="312420" y="185499"/>
                  <a:pt x="303193" y="194429"/>
                  <a:pt x="299799" y="206276"/>
                </a:cubicBezTo>
                <a:lnTo>
                  <a:pt x="295930" y="219789"/>
                </a:lnTo>
                <a:lnTo>
                  <a:pt x="282416" y="223659"/>
                </a:lnTo>
                <a:cubicBezTo>
                  <a:pt x="267414" y="227945"/>
                  <a:pt x="257115" y="241637"/>
                  <a:pt x="257115" y="257235"/>
                </a:cubicBezTo>
                <a:cubicBezTo>
                  <a:pt x="257115" y="270391"/>
                  <a:pt x="264497" y="282238"/>
                  <a:pt x="275808" y="288131"/>
                </a:cubicBezTo>
                <a:cubicBezTo>
                  <a:pt x="259437" y="298728"/>
                  <a:pt x="239970" y="304860"/>
                  <a:pt x="219015" y="304860"/>
                </a:cubicBezTo>
                <a:lnTo>
                  <a:pt x="207585" y="304860"/>
                </a:lnTo>
                <a:cubicBezTo>
                  <a:pt x="172105" y="304860"/>
                  <a:pt x="137993" y="291227"/>
                  <a:pt x="112335" y="266760"/>
                </a:cubicBezTo>
                <a:lnTo>
                  <a:pt x="45482" y="203002"/>
                </a:lnTo>
                <a:cubicBezTo>
                  <a:pt x="35957" y="193953"/>
                  <a:pt x="35600" y="178832"/>
                  <a:pt x="44648" y="169307"/>
                </a:cubicBezTo>
                <a:cubicBezTo>
                  <a:pt x="53697" y="159782"/>
                  <a:pt x="68818" y="159425"/>
                  <a:pt x="78343" y="168473"/>
                </a:cubicBezTo>
                <a:lnTo>
                  <a:pt x="114360" y="202763"/>
                </a:lnTo>
                <a:cubicBezTo>
                  <a:pt x="114360" y="201870"/>
                  <a:pt x="114300" y="200918"/>
                  <a:pt x="114300" y="200025"/>
                </a:cubicBezTo>
                <a:lnTo>
                  <a:pt x="114300" y="38100"/>
                </a:lnTo>
                <a:cubicBezTo>
                  <a:pt x="114300" y="27563"/>
                  <a:pt x="122813" y="19050"/>
                  <a:pt x="133350" y="19050"/>
                </a:cubicBezTo>
                <a:cubicBezTo>
                  <a:pt x="143887" y="19050"/>
                  <a:pt x="152400" y="27563"/>
                  <a:pt x="152400" y="38100"/>
                </a:cubicBezTo>
                <a:lnTo>
                  <a:pt x="152400" y="142875"/>
                </a:lnTo>
                <a:cubicBezTo>
                  <a:pt x="152400" y="148114"/>
                  <a:pt x="156686" y="152400"/>
                  <a:pt x="161925" y="152400"/>
                </a:cubicBezTo>
                <a:cubicBezTo>
                  <a:pt x="167164" y="152400"/>
                  <a:pt x="171450" y="148114"/>
                  <a:pt x="171450" y="142875"/>
                </a:cubicBez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lose/>
                <a:moveTo>
                  <a:pt x="186154" y="194429"/>
                </a:moveTo>
                <a:cubicBezTo>
                  <a:pt x="185499" y="192107"/>
                  <a:pt x="183356" y="190500"/>
                  <a:pt x="180975" y="190500"/>
                </a:cubicBezTo>
                <a:cubicBezTo>
                  <a:pt x="178594" y="190500"/>
                  <a:pt x="176451" y="192107"/>
                  <a:pt x="175796" y="194429"/>
                </a:cubicBezTo>
                <a:lnTo>
                  <a:pt x="171450" y="209550"/>
                </a:lnTo>
                <a:lnTo>
                  <a:pt x="156329" y="213896"/>
                </a:lnTo>
                <a:cubicBezTo>
                  <a:pt x="154007" y="214551"/>
                  <a:pt x="152400" y="216694"/>
                  <a:pt x="152400" y="219075"/>
                </a:cubicBezTo>
                <a:cubicBezTo>
                  <a:pt x="152400" y="221456"/>
                  <a:pt x="154007" y="223599"/>
                  <a:pt x="156329" y="224254"/>
                </a:cubicBezTo>
                <a:lnTo>
                  <a:pt x="171450" y="228600"/>
                </a:lnTo>
                <a:lnTo>
                  <a:pt x="175796" y="243721"/>
                </a:lnTo>
                <a:cubicBezTo>
                  <a:pt x="176451" y="246043"/>
                  <a:pt x="178594" y="247650"/>
                  <a:pt x="180975" y="247650"/>
                </a:cubicBezTo>
                <a:cubicBezTo>
                  <a:pt x="183356" y="247650"/>
                  <a:pt x="185499" y="246043"/>
                  <a:pt x="186154" y="243721"/>
                </a:cubicBezTo>
                <a:lnTo>
                  <a:pt x="190500" y="228600"/>
                </a:lnTo>
                <a:lnTo>
                  <a:pt x="205621" y="224254"/>
                </a:lnTo>
                <a:cubicBezTo>
                  <a:pt x="207943" y="223599"/>
                  <a:pt x="209550" y="221456"/>
                  <a:pt x="209550" y="219075"/>
                </a:cubicBezTo>
                <a:cubicBezTo>
                  <a:pt x="209550" y="216694"/>
                  <a:pt x="207943" y="214551"/>
                  <a:pt x="205621" y="213896"/>
                </a:cubicBezTo>
                <a:lnTo>
                  <a:pt x="190500" y="209550"/>
                </a:lnTo>
                <a:lnTo>
                  <a:pt x="186154" y="194429"/>
                </a:lnTo>
                <a:close/>
                <a:moveTo>
                  <a:pt x="61912" y="71438"/>
                </a:moveTo>
                <a:lnTo>
                  <a:pt x="90666" y="79653"/>
                </a:lnTo>
                <a:cubicBezTo>
                  <a:pt x="93405" y="80427"/>
                  <a:pt x="95250" y="82927"/>
                  <a:pt x="95250" y="85725"/>
                </a:cubicBezTo>
                <a:cubicBezTo>
                  <a:pt x="95250" y="88523"/>
                  <a:pt x="93405" y="91023"/>
                  <a:pt x="90666" y="91797"/>
                </a:cubicBezTo>
                <a:lnTo>
                  <a:pt x="61912" y="100013"/>
                </a:lnTo>
                <a:lnTo>
                  <a:pt x="53697" y="128766"/>
                </a:lnTo>
                <a:cubicBezTo>
                  <a:pt x="52923" y="131505"/>
                  <a:pt x="50423" y="133350"/>
                  <a:pt x="47625" y="133350"/>
                </a:cubicBezTo>
                <a:cubicBezTo>
                  <a:pt x="44827" y="133350"/>
                  <a:pt x="42327" y="131505"/>
                  <a:pt x="41553" y="128766"/>
                </a:cubicBezTo>
                <a:lnTo>
                  <a:pt x="33338" y="100013"/>
                </a:lnTo>
                <a:lnTo>
                  <a:pt x="4584" y="91797"/>
                </a:lnTo>
                <a:cubicBezTo>
                  <a:pt x="1845" y="91023"/>
                  <a:pt x="0" y="88523"/>
                  <a:pt x="0" y="85725"/>
                </a:cubicBezTo>
                <a:cubicBezTo>
                  <a:pt x="0" y="82927"/>
                  <a:pt x="1845" y="80427"/>
                  <a:pt x="4584" y="79653"/>
                </a:cubicBezTo>
                <a:lnTo>
                  <a:pt x="33338" y="71438"/>
                </a:lnTo>
                <a:lnTo>
                  <a:pt x="41553" y="42684"/>
                </a:lnTo>
                <a:cubicBezTo>
                  <a:pt x="42327" y="39945"/>
                  <a:pt x="44827" y="38100"/>
                  <a:pt x="47625" y="38100"/>
                </a:cubicBezTo>
                <a:cubicBezTo>
                  <a:pt x="50423" y="38100"/>
                  <a:pt x="52923" y="39945"/>
                  <a:pt x="53697" y="42684"/>
                </a:cubicBezTo>
                <a:lnTo>
                  <a:pt x="61912" y="71438"/>
                </a:lnTo>
                <a:close/>
                <a:moveTo>
                  <a:pt x="347663" y="242888"/>
                </a:moveTo>
                <a:lnTo>
                  <a:pt x="376416" y="251103"/>
                </a:lnTo>
                <a:cubicBezTo>
                  <a:pt x="379155" y="251877"/>
                  <a:pt x="381000" y="254377"/>
                  <a:pt x="381000" y="257175"/>
                </a:cubicBezTo>
                <a:cubicBezTo>
                  <a:pt x="381000" y="259973"/>
                  <a:pt x="379155" y="262473"/>
                  <a:pt x="376416" y="263247"/>
                </a:cubicBezTo>
                <a:lnTo>
                  <a:pt x="347663" y="271463"/>
                </a:lnTo>
                <a:lnTo>
                  <a:pt x="339447" y="300216"/>
                </a:lnTo>
                <a:cubicBezTo>
                  <a:pt x="338673" y="302955"/>
                  <a:pt x="336173" y="304800"/>
                  <a:pt x="333375" y="304800"/>
                </a:cubicBezTo>
                <a:cubicBezTo>
                  <a:pt x="330577" y="304800"/>
                  <a:pt x="328077" y="302955"/>
                  <a:pt x="327303" y="300216"/>
                </a:cubicBezTo>
                <a:lnTo>
                  <a:pt x="319088" y="271463"/>
                </a:lnTo>
                <a:lnTo>
                  <a:pt x="290334" y="263247"/>
                </a:lnTo>
                <a:cubicBezTo>
                  <a:pt x="287595" y="262473"/>
                  <a:pt x="285750" y="259973"/>
                  <a:pt x="285750" y="257175"/>
                </a:cubicBezTo>
                <a:cubicBezTo>
                  <a:pt x="285750" y="254377"/>
                  <a:pt x="287595" y="251877"/>
                  <a:pt x="290334" y="251103"/>
                </a:cubicBezTo>
                <a:lnTo>
                  <a:pt x="319088" y="242888"/>
                </a:lnTo>
                <a:lnTo>
                  <a:pt x="327303" y="214134"/>
                </a:lnTo>
                <a:cubicBezTo>
                  <a:pt x="328077" y="211395"/>
                  <a:pt x="330577" y="209550"/>
                  <a:pt x="333375" y="209550"/>
                </a:cubicBezTo>
                <a:cubicBezTo>
                  <a:pt x="336173" y="209550"/>
                  <a:pt x="338673" y="211395"/>
                  <a:pt x="339447" y="214134"/>
                </a:cubicBezTo>
                <a:lnTo>
                  <a:pt x="347663" y="242888"/>
                </a:lnTo>
                <a:close/>
              </a:path>
            </a:pathLst>
          </a:custGeom>
          <a:solidFill>
            <a:srgbClr val="FFC107"/>
          </a:solidFill>
        </p:spPr>
      </p:sp>
      <p:sp>
        <p:nvSpPr>
          <p:cNvPr id="10" name="Text 6"/>
          <p:cNvSpPr/>
          <p:nvPr/>
        </p:nvSpPr>
        <p:spPr>
          <a:xfrm>
            <a:off x="6728460" y="4038600"/>
            <a:ext cx="530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触觉过分防御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28460" y="4343400"/>
            <a:ext cx="5295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导致抗拒触碰，影响握笔、使用剪刀等精细动作，制约学业技能发展。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76804" y="505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57150"/>
                </a:moveTo>
                <a:cubicBezTo>
                  <a:pt x="38100" y="46613"/>
                  <a:pt x="46613" y="38100"/>
                  <a:pt x="57150" y="38100"/>
                </a:cubicBezTo>
                <a:lnTo>
                  <a:pt x="152400" y="38100"/>
                </a:lnTo>
                <a:cubicBezTo>
                  <a:pt x="162937" y="38100"/>
                  <a:pt x="171450" y="46613"/>
                  <a:pt x="171450" y="57150"/>
                </a:cubicBezTo>
                <a:lnTo>
                  <a:pt x="171450" y="228600"/>
                </a:lnTo>
                <a:lnTo>
                  <a:pt x="228600" y="228600"/>
                </a:lnTo>
                <a:lnTo>
                  <a:pt x="228600" y="152400"/>
                </a:lnTo>
                <a:cubicBezTo>
                  <a:pt x="228600" y="141863"/>
                  <a:pt x="237113" y="133350"/>
                  <a:pt x="2476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266700" y="171450"/>
                </a:lnTo>
                <a:lnTo>
                  <a:pt x="266700" y="247650"/>
                </a:lnTo>
                <a:cubicBezTo>
                  <a:pt x="266700" y="258187"/>
                  <a:pt x="258187" y="266700"/>
                  <a:pt x="247650" y="266700"/>
                </a:cubicBezTo>
                <a:lnTo>
                  <a:pt x="152400" y="266700"/>
                </a:lnTo>
                <a:cubicBezTo>
                  <a:pt x="141863" y="266700"/>
                  <a:pt x="133350" y="258187"/>
                  <a:pt x="133350" y="247650"/>
                </a:cubicBezTo>
                <a:lnTo>
                  <a:pt x="133350" y="76200"/>
                </a:lnTo>
                <a:lnTo>
                  <a:pt x="76200" y="76200"/>
                </a:lnTo>
                <a:lnTo>
                  <a:pt x="76200" y="152400"/>
                </a:lnTo>
                <a:cubicBezTo>
                  <a:pt x="76200" y="162937"/>
                  <a:pt x="67687" y="171450"/>
                  <a:pt x="571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ubicBezTo>
                  <a:pt x="0" y="141863"/>
                  <a:pt x="8513" y="133350"/>
                  <a:pt x="19050" y="133350"/>
                </a:cubicBezTo>
                <a:lnTo>
                  <a:pt x="38100" y="133350"/>
                </a:lnTo>
                <a:lnTo>
                  <a:pt x="38100" y="57150"/>
                </a:lnTo>
                <a:close/>
              </a:path>
            </a:pathLst>
          </a:custGeom>
          <a:solidFill>
            <a:srgbClr val="FFC107"/>
          </a:solidFill>
        </p:spPr>
      </p:sp>
      <p:sp>
        <p:nvSpPr>
          <p:cNvPr id="13" name="Text 9"/>
          <p:cNvSpPr/>
          <p:nvPr/>
        </p:nvSpPr>
        <p:spPr>
          <a:xfrm>
            <a:off x="6714808" y="50546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感觉输入整合不足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14808" y="5359400"/>
            <a:ext cx="530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无法有效过滤环境刺激，同学的小动作、窗外的声音都极易干扰注意力。</a:t>
            </a:r>
            <a:endParaRPr 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970135" y="937260"/>
            <a:ext cx="1887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Anna Jean</a:t>
            </a:r>
            <a:r>
              <a:rPr lang="en-US" altLang="en-US"/>
              <a:t> </a:t>
            </a:r>
            <a:r>
              <a:rPr lang="en-US" altLang="zh-CN"/>
              <a:t>Ayres </a:t>
            </a:r>
            <a:r>
              <a:rPr lang="zh-CN" altLang="en-US"/>
              <a:t>（</a:t>
            </a:r>
            <a:r>
              <a:rPr lang="en-US" altLang="zh-CN"/>
              <a:t>1920-1988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0" y="927100"/>
            <a:ext cx="5905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交互放大模型：双症负循环示意图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00125" y="1746250"/>
            <a:ext cx="9855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ADHD与感统失调并非孤立存在，而是形成一个双向反馈的恶性循环，导致学业、社交、自理三大战场同时受累，单一干预难以破局。</a:t>
            </a: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432050" y="2717165"/>
            <a:ext cx="7518400" cy="3111500"/>
          </a:xfrm>
          <a:custGeom>
            <a:avLst/>
            <a:gdLst/>
            <a:ahLst/>
            <a:cxnLst/>
            <a:rect l="l" t="t" r="r" b="b"/>
            <a:pathLst>
              <a:path w="7518400" h="2438400">
                <a:moveTo>
                  <a:pt x="1219200" y="0"/>
                </a:moveTo>
                <a:lnTo>
                  <a:pt x="6299200" y="0"/>
                </a:lnTo>
                <a:cubicBezTo>
                  <a:pt x="6972095" y="0"/>
                  <a:pt x="7518400" y="546305"/>
                  <a:pt x="7518400" y="1219200"/>
                </a:cubicBezTo>
                <a:lnTo>
                  <a:pt x="7518400" y="1219200"/>
                </a:lnTo>
                <a:cubicBezTo>
                  <a:pt x="7518400" y="1892095"/>
                  <a:pt x="6972095" y="2438400"/>
                  <a:pt x="6299200" y="2438400"/>
                </a:cubicBezTo>
                <a:lnTo>
                  <a:pt x="1219200" y="2438400"/>
                </a:lnTo>
                <a:cubicBezTo>
                  <a:pt x="546305" y="2438400"/>
                  <a:pt x="0" y="1892095"/>
                  <a:pt x="0" y="1219200"/>
                </a:cubicBezTo>
                <a:lnTo>
                  <a:pt x="0" y="1219200"/>
                </a:lnTo>
                <a:cubicBezTo>
                  <a:pt x="0" y="546305"/>
                  <a:pt x="546305" y="0"/>
                  <a:pt x="12192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56B3"/>
            </a:solidFill>
            <a:prstDash val="dash"/>
          </a:ln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5537200" y="2717800"/>
            <a:ext cx="1117600" cy="812800"/>
          </a:xfrm>
          <a:custGeom>
            <a:avLst/>
            <a:gdLst/>
            <a:ahLst/>
            <a:cxnLst/>
            <a:rect l="l" t="t" r="r" b="b"/>
            <a:pathLst>
              <a:path w="1117600" h="812800">
                <a:moveTo>
                  <a:pt x="101600" y="0"/>
                </a:moveTo>
                <a:lnTo>
                  <a:pt x="1016000" y="0"/>
                </a:lnTo>
                <a:cubicBezTo>
                  <a:pt x="1072075" y="0"/>
                  <a:pt x="1117600" y="45525"/>
                  <a:pt x="1117600" y="101600"/>
                </a:cubicBezTo>
                <a:lnTo>
                  <a:pt x="1117600" y="711200"/>
                </a:lnTo>
                <a:cubicBezTo>
                  <a:pt x="1117600" y="767275"/>
                  <a:pt x="1072075" y="812800"/>
                  <a:pt x="10160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5638800" y="2870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感统失调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5651500" y="3175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身体不适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7823200" y="3479800"/>
            <a:ext cx="1117600" cy="812800"/>
          </a:xfrm>
          <a:custGeom>
            <a:avLst/>
            <a:gdLst/>
            <a:ahLst/>
            <a:cxnLst/>
            <a:rect l="l" t="t" r="r" b="b"/>
            <a:pathLst>
              <a:path w="1117600" h="812800">
                <a:moveTo>
                  <a:pt x="101600" y="0"/>
                </a:moveTo>
                <a:lnTo>
                  <a:pt x="1016000" y="0"/>
                </a:lnTo>
                <a:cubicBezTo>
                  <a:pt x="1072075" y="0"/>
                  <a:pt x="1117600" y="45525"/>
                  <a:pt x="1117600" y="101600"/>
                </a:cubicBezTo>
                <a:lnTo>
                  <a:pt x="1117600" y="711200"/>
                </a:lnTo>
                <a:cubicBezTo>
                  <a:pt x="1117600" y="767275"/>
                  <a:pt x="1072075" y="812800"/>
                  <a:pt x="10160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7924800" y="3632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注意分散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7937500" y="3937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多动加剧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5435600" y="5003800"/>
            <a:ext cx="1320800" cy="812800"/>
          </a:xfrm>
          <a:custGeom>
            <a:avLst/>
            <a:gdLst/>
            <a:ahLst/>
            <a:cxnLst/>
            <a:rect l="l" t="t" r="r" b="b"/>
            <a:pathLst>
              <a:path w="1320800" h="812800">
                <a:moveTo>
                  <a:pt x="101600" y="0"/>
                </a:moveTo>
                <a:lnTo>
                  <a:pt x="1219200" y="0"/>
                </a:lnTo>
                <a:cubicBezTo>
                  <a:pt x="1275275" y="0"/>
                  <a:pt x="1320800" y="45525"/>
                  <a:pt x="1320800" y="101600"/>
                </a:cubicBezTo>
                <a:lnTo>
                  <a:pt x="1320800" y="711200"/>
                </a:lnTo>
                <a:cubicBezTo>
                  <a:pt x="1320800" y="767275"/>
                  <a:pt x="1275275" y="812800"/>
                  <a:pt x="1219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5537200" y="5156200"/>
            <a:ext cx="111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训练效果低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5549900" y="5461000"/>
            <a:ext cx="1092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感统更弱</a:t>
            </a:r>
            <a:endParaRPr lang="en-US" sz="1600" dirty="0"/>
          </a:p>
        </p:txBody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2969260" y="3479800"/>
            <a:ext cx="1676400" cy="812800"/>
          </a:xfrm>
          <a:custGeom>
            <a:avLst/>
            <a:gdLst/>
            <a:ahLst/>
            <a:cxnLst/>
            <a:rect l="l" t="t" r="r" b="b"/>
            <a:pathLst>
              <a:path w="1676400" h="812800">
                <a:moveTo>
                  <a:pt x="101600" y="0"/>
                </a:moveTo>
                <a:lnTo>
                  <a:pt x="1574800" y="0"/>
                </a:lnTo>
                <a:cubicBezTo>
                  <a:pt x="1630875" y="0"/>
                  <a:pt x="1676400" y="45525"/>
                  <a:pt x="1676400" y="101600"/>
                </a:cubicBezTo>
                <a:lnTo>
                  <a:pt x="1676400" y="711200"/>
                </a:lnTo>
                <a:cubicBezTo>
                  <a:pt x="1676400" y="767275"/>
                  <a:pt x="1630875" y="812800"/>
                  <a:pt x="1574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3070860" y="3632200"/>
            <a:ext cx="147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学业/社交/自理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3083560" y="3937000"/>
            <a:ext cx="1447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全面受挫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7391400" y="3251200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 rot="5400000">
            <a:off x="7366000" y="4800600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 rot="10800000">
            <a:off x="4343400" y="4775200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8"/>
            </p:custDataLst>
          </p:nvPr>
        </p:nvSpPr>
        <p:spPr>
          <a:xfrm rot="-5400000">
            <a:off x="4318000" y="3276600"/>
            <a:ext cx="685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23770" y="1381760"/>
            <a:ext cx="7929245" cy="14452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88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具体负性表现</a:t>
            </a:r>
            <a:endParaRPr lang="zh-CN" altLang="en-US" sz="8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5244465" y="3251200"/>
            <a:ext cx="1196340" cy="251650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83285" y="702310"/>
            <a:ext cx="10292715" cy="46907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1. ADHD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的执行功能缺陷削弱感觉统合训练效果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The executive function deficiency of ADHD weakens the effect of sensory integration training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注意力分散导致训练低效：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ADHD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导致小煦注意力集中时长不足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5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分钟，在感觉统合训练中表现为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无法专注完成动作步骤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。例如，《瑞文标准推理测验》中其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答题时持续提问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‘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选哪个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’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，犹豫不决且多次更改答案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，这种注意力涣散同样体现在平衡训练中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——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校外康复训练习得的单脚站立动作，因训练时无法专注记忆动作要领，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评估时仍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单脚站一边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6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秒、一边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3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秒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，远未达到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单脚站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10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秒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的同龄标准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；精细动作训练中，仿画正方形时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仅用线条勾勒（宝盖头当身体、竖线当腿、圆点当脚）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，遗漏头发、耳朵等细节，用剪刀时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不会顺着线条剪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，核心是注意力无法集中于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手部动作控制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冲动控制弱加剧动作偏差：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ADHD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的冲动行为使小煦在需要耐心的感觉统合训练中难以配合。课堂上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不能控制自己，多动且随意下座位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，这种冲动延伸到动作训练中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——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练习脚后跟行走时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仅能走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3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米就擅自停下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，跳过高度及膝的栏杆时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未看清高度就冲动起跳，多次摔倒后拒绝再尝试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，导致动作能力提升缓慢。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83285" y="702310"/>
            <a:ext cx="10292715" cy="46907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感觉统合失调放大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ADHD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症状表现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2. Sensory integration dysfunction amplifies the manifestations of ADHD symptoms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前庭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/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本体感失调加剧多动行为：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感觉统合失调导致的身体控制能力不足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，是小煦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ADHD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多动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行为的重要诱因。因前庭平衡重度失调，其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难以维持固定坐姿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，课堂上需频繁调整身体姿势（如扭动身体、趴在桌面），进而表现为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随意下座位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；本体感失调使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连续单脚跳仅能完成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3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次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，体育课中无法参与集体跳绳活动，只能独自游荡，进一步加剧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多动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的视觉印象，被教师误判为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调皮捣蛋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触觉过分防御引发冲动社交行为：中度触觉过分防御使小煦对他人触碰极度敏感，叠加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ADHD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的冲动控制缺陷，直接引发社交冲突。案例中提到其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存在推人、背后抱人、亲人等特殊行为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，具体场景为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同学靠近借文具时，未沟通就伸手推人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排队时突然从背后抱住前面同学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，本质是触觉不适触发的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本能防御反应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，但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因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ADHD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无法理性表达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不要碰我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”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，只能通过冲动动作回应，导致同伴排斥，形成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触觉敏感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→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冲动行为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→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社交隔离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的恶性循环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2897505" y="3625215"/>
            <a:ext cx="6660515" cy="1000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实践检视：支持缺口</a:t>
            </a:r>
            <a:endParaRPr lang="en-US" sz="3600" dirty="0">
              <a:solidFill>
                <a:srgbClr val="0D0D0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400" dirty="0"/>
              <a:t>Practical review: Support Gap</a:t>
            </a:r>
            <a:endParaRPr lang="en-US" altLang="zh-CN" sz="24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1045210"/>
            <a:ext cx="696404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现行融合模式：母亲陪读+资源教室评估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60045" y="2087245"/>
            <a:ext cx="5537200" cy="1106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dirty="0"/>
              <a:t>The measures taken by the school have guaranteed Xiaoxu's right to education and provided initial support, but have not yet been upgraded to an integrated systematic support of "education - rehabilitation".</a:t>
            </a:r>
            <a:endParaRPr lang="en-US" altLang="zh-CN" dirty="0"/>
          </a:p>
        </p:txBody>
      </p:sp>
      <p:sp>
        <p:nvSpPr>
          <p:cNvPr id="5" name="Shape 2"/>
          <p:cNvSpPr/>
          <p:nvPr/>
        </p:nvSpPr>
        <p:spPr>
          <a:xfrm>
            <a:off x="254000" y="3657600"/>
            <a:ext cx="5435600" cy="1574800"/>
          </a:xfrm>
          <a:custGeom>
            <a:avLst/>
            <a:gdLst/>
            <a:ahLst/>
            <a:cxnLst/>
            <a:rect l="l" t="t" r="r" b="b"/>
            <a:pathLst>
              <a:path w="5435600" h="1574800">
                <a:moveTo>
                  <a:pt x="101606" y="0"/>
                </a:moveTo>
                <a:lnTo>
                  <a:pt x="5333994" y="0"/>
                </a:lnTo>
                <a:cubicBezTo>
                  <a:pt x="5390109" y="0"/>
                  <a:pt x="5435600" y="45491"/>
                  <a:pt x="5435600" y="101606"/>
                </a:cubicBezTo>
                <a:lnTo>
                  <a:pt x="5435600" y="1473194"/>
                </a:lnTo>
                <a:cubicBezTo>
                  <a:pt x="5435600" y="1529309"/>
                  <a:pt x="5390109" y="1574800"/>
                  <a:pt x="5333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57200" y="38608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积极之处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267200"/>
            <a:ext cx="51181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保障了在普通班级的受教育权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体现了家校初步合作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通过资源教室提供了基础评估数据</a:t>
            </a:r>
            <a:endParaRPr lang="en-US" sz="1600" dirty="0"/>
          </a:p>
        </p:txBody>
      </p:sp>
      <p:pic>
        <p:nvPicPr>
          <p:cNvPr id="8" name="Image 1" descr="https://kimi-web-img.moonshot.cn/img/qisureading.oss-cn-qingdao.aliyuncs.com/69184727e203985fbf18821d060b5ef22ed5312e.png"/>
          <p:cNvPicPr>
            <a:picLocks noChangeAspect="1"/>
          </p:cNvPicPr>
          <p:nvPr/>
        </p:nvPicPr>
        <p:blipFill>
          <a:blip r:embed="rId2"/>
          <a:srcRect l="19957" r="19957"/>
          <a:stretch>
            <a:fillRect/>
          </a:stretch>
        </p:blipFill>
        <p:spPr>
          <a:xfrm>
            <a:off x="7610475" y="1959610"/>
            <a:ext cx="3778250" cy="4106545"/>
          </a:xfrm>
          <a:prstGeom prst="roundRect">
            <a:avLst>
              <a:gd name="adj" fmla="val 2609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783082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缺失的IEP：临时应对取代系统目标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1674" y="2443482"/>
            <a:ext cx="826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学校未依法制定个别化教育计划(IEP)，导致支持碎片化，缺乏系统性、可测量的成长路径。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154682"/>
            <a:ext cx="4635500" cy="1879600"/>
          </a:xfrm>
          <a:custGeom>
            <a:avLst/>
            <a:gdLst/>
            <a:ahLst/>
            <a:cxnLst/>
            <a:rect l="l" t="t" r="r" b="b"/>
            <a:pathLst>
              <a:path w="4635500" h="1879600">
                <a:moveTo>
                  <a:pt x="101592" y="0"/>
                </a:moveTo>
                <a:lnTo>
                  <a:pt x="4533908" y="0"/>
                </a:lnTo>
                <a:cubicBezTo>
                  <a:pt x="4590016" y="0"/>
                  <a:pt x="4635500" y="45484"/>
                  <a:pt x="4635500" y="101592"/>
                </a:cubicBezTo>
                <a:lnTo>
                  <a:pt x="4635500" y="1778008"/>
                </a:lnTo>
                <a:cubicBezTo>
                  <a:pt x="4635500" y="1834116"/>
                  <a:pt x="4590016" y="1879600"/>
                  <a:pt x="45339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C3545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4020" y="3378200"/>
            <a:ext cx="435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DC354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现状：临时应对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39268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57993" y="57993"/>
                </a:moveTo>
                <a:cubicBezTo>
                  <a:pt x="61258" y="54729"/>
                  <a:pt x="66536" y="54729"/>
                  <a:pt x="69766" y="57993"/>
                </a:cubicBezTo>
                <a:lnTo>
                  <a:pt x="88865" y="77093"/>
                </a:lnTo>
                <a:lnTo>
                  <a:pt x="107965" y="57993"/>
                </a:lnTo>
                <a:cubicBezTo>
                  <a:pt x="111229" y="54729"/>
                  <a:pt x="116508" y="54729"/>
                  <a:pt x="119737" y="57993"/>
                </a:cubicBezTo>
                <a:cubicBezTo>
                  <a:pt x="122967" y="61258"/>
                  <a:pt x="123001" y="66536"/>
                  <a:pt x="119737" y="69766"/>
                </a:cubicBezTo>
                <a:lnTo>
                  <a:pt x="100638" y="88865"/>
                </a:lnTo>
                <a:lnTo>
                  <a:pt x="119737" y="107965"/>
                </a:lnTo>
                <a:cubicBezTo>
                  <a:pt x="123001" y="111229"/>
                  <a:pt x="123001" y="116508"/>
                  <a:pt x="119737" y="119737"/>
                </a:cubicBezTo>
                <a:cubicBezTo>
                  <a:pt x="116473" y="122967"/>
                  <a:pt x="111194" y="123001"/>
                  <a:pt x="107965" y="119737"/>
                </a:cubicBezTo>
                <a:lnTo>
                  <a:pt x="88865" y="100638"/>
                </a:lnTo>
                <a:lnTo>
                  <a:pt x="69766" y="119737"/>
                </a:lnTo>
                <a:cubicBezTo>
                  <a:pt x="66501" y="123001"/>
                  <a:pt x="61223" y="123001"/>
                  <a:pt x="57993" y="119737"/>
                </a:cubicBezTo>
                <a:cubicBezTo>
                  <a:pt x="54764" y="116473"/>
                  <a:pt x="54729" y="111194"/>
                  <a:pt x="57993" y="107965"/>
                </a:cubicBezTo>
                <a:lnTo>
                  <a:pt x="77093" y="88865"/>
                </a:lnTo>
                <a:lnTo>
                  <a:pt x="57993" y="69766"/>
                </a:lnTo>
                <a:cubicBezTo>
                  <a:pt x="54729" y="66501"/>
                  <a:pt x="54729" y="61223"/>
                  <a:pt x="57993" y="57993"/>
                </a:cubicBezTo>
                <a:close/>
              </a:path>
            </a:pathLst>
          </a:custGeom>
          <a:solidFill>
            <a:srgbClr val="DC3545"/>
          </a:solidFill>
        </p:spPr>
      </p:sp>
      <p:sp>
        <p:nvSpPr>
          <p:cNvPr id="8" name="Text 5"/>
          <p:cNvSpPr/>
          <p:nvPr/>
        </p:nvSpPr>
        <p:spPr>
          <a:xfrm>
            <a:off x="807720" y="38862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目标空白：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无年度/季度目标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42824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57993" y="57993"/>
                </a:moveTo>
                <a:cubicBezTo>
                  <a:pt x="61258" y="54729"/>
                  <a:pt x="66536" y="54729"/>
                  <a:pt x="69766" y="57993"/>
                </a:cubicBezTo>
                <a:lnTo>
                  <a:pt x="88865" y="77093"/>
                </a:lnTo>
                <a:lnTo>
                  <a:pt x="107965" y="57993"/>
                </a:lnTo>
                <a:cubicBezTo>
                  <a:pt x="111229" y="54729"/>
                  <a:pt x="116508" y="54729"/>
                  <a:pt x="119737" y="57993"/>
                </a:cubicBezTo>
                <a:cubicBezTo>
                  <a:pt x="122967" y="61258"/>
                  <a:pt x="123001" y="66536"/>
                  <a:pt x="119737" y="69766"/>
                </a:cubicBezTo>
                <a:lnTo>
                  <a:pt x="100638" y="88865"/>
                </a:lnTo>
                <a:lnTo>
                  <a:pt x="119737" y="107965"/>
                </a:lnTo>
                <a:cubicBezTo>
                  <a:pt x="123001" y="111229"/>
                  <a:pt x="123001" y="116508"/>
                  <a:pt x="119737" y="119737"/>
                </a:cubicBezTo>
                <a:cubicBezTo>
                  <a:pt x="116473" y="122967"/>
                  <a:pt x="111194" y="123001"/>
                  <a:pt x="107965" y="119737"/>
                </a:cubicBezTo>
                <a:lnTo>
                  <a:pt x="88865" y="100638"/>
                </a:lnTo>
                <a:lnTo>
                  <a:pt x="69766" y="119737"/>
                </a:lnTo>
                <a:cubicBezTo>
                  <a:pt x="66501" y="123001"/>
                  <a:pt x="61223" y="123001"/>
                  <a:pt x="57993" y="119737"/>
                </a:cubicBezTo>
                <a:cubicBezTo>
                  <a:pt x="54764" y="116473"/>
                  <a:pt x="54729" y="111194"/>
                  <a:pt x="57993" y="107965"/>
                </a:cubicBezTo>
                <a:lnTo>
                  <a:pt x="77093" y="88865"/>
                </a:lnTo>
                <a:lnTo>
                  <a:pt x="57993" y="69766"/>
                </a:lnTo>
                <a:cubicBezTo>
                  <a:pt x="54729" y="66501"/>
                  <a:pt x="54729" y="61223"/>
                  <a:pt x="57993" y="57993"/>
                </a:cubicBezTo>
                <a:close/>
              </a:path>
            </a:pathLst>
          </a:custGeom>
          <a:solidFill>
            <a:srgbClr val="DC3545"/>
          </a:solidFill>
        </p:spPr>
      </p:sp>
      <p:sp>
        <p:nvSpPr>
          <p:cNvPr id="10" name="Text 7"/>
          <p:cNvSpPr/>
          <p:nvPr/>
        </p:nvSpPr>
        <p:spPr>
          <a:xfrm>
            <a:off x="807720" y="42418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策略随意：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教师凭经验提示，母亲凭爱心陪练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46380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57993" y="57993"/>
                </a:moveTo>
                <a:cubicBezTo>
                  <a:pt x="61258" y="54729"/>
                  <a:pt x="66536" y="54729"/>
                  <a:pt x="69766" y="57993"/>
                </a:cubicBezTo>
                <a:lnTo>
                  <a:pt x="88865" y="77093"/>
                </a:lnTo>
                <a:lnTo>
                  <a:pt x="107965" y="57993"/>
                </a:lnTo>
                <a:cubicBezTo>
                  <a:pt x="111229" y="54729"/>
                  <a:pt x="116508" y="54729"/>
                  <a:pt x="119737" y="57993"/>
                </a:cubicBezTo>
                <a:cubicBezTo>
                  <a:pt x="122967" y="61258"/>
                  <a:pt x="123001" y="66536"/>
                  <a:pt x="119737" y="69766"/>
                </a:cubicBezTo>
                <a:lnTo>
                  <a:pt x="100638" y="88865"/>
                </a:lnTo>
                <a:lnTo>
                  <a:pt x="119737" y="107965"/>
                </a:lnTo>
                <a:cubicBezTo>
                  <a:pt x="123001" y="111229"/>
                  <a:pt x="123001" y="116508"/>
                  <a:pt x="119737" y="119737"/>
                </a:cubicBezTo>
                <a:cubicBezTo>
                  <a:pt x="116473" y="122967"/>
                  <a:pt x="111194" y="123001"/>
                  <a:pt x="107965" y="119737"/>
                </a:cubicBezTo>
                <a:lnTo>
                  <a:pt x="88865" y="100638"/>
                </a:lnTo>
                <a:lnTo>
                  <a:pt x="69766" y="119737"/>
                </a:lnTo>
                <a:cubicBezTo>
                  <a:pt x="66501" y="123001"/>
                  <a:pt x="61223" y="123001"/>
                  <a:pt x="57993" y="119737"/>
                </a:cubicBezTo>
                <a:cubicBezTo>
                  <a:pt x="54764" y="116473"/>
                  <a:pt x="54729" y="111194"/>
                  <a:pt x="57993" y="107965"/>
                </a:cubicBezTo>
                <a:lnTo>
                  <a:pt x="77093" y="88865"/>
                </a:lnTo>
                <a:lnTo>
                  <a:pt x="57993" y="69766"/>
                </a:lnTo>
                <a:cubicBezTo>
                  <a:pt x="54729" y="66501"/>
                  <a:pt x="54729" y="61223"/>
                  <a:pt x="57993" y="57993"/>
                </a:cubicBezTo>
                <a:close/>
              </a:path>
            </a:pathLst>
          </a:custGeom>
          <a:solidFill>
            <a:srgbClr val="DC3545"/>
          </a:solidFill>
        </p:spPr>
      </p:sp>
      <p:sp>
        <p:nvSpPr>
          <p:cNvPr id="12" name="Text 9"/>
          <p:cNvSpPr/>
          <p:nvPr/>
        </p:nvSpPr>
        <p:spPr>
          <a:xfrm>
            <a:off x="807720" y="45974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效果不可测：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进步与否缺乏评估标准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67375" y="3154682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843260" y="347365"/>
                </a:moveTo>
                <a:cubicBezTo>
                  <a:pt x="861864" y="365968"/>
                  <a:pt x="861864" y="396180"/>
                  <a:pt x="843260" y="414784"/>
                </a:cubicBezTo>
                <a:lnTo>
                  <a:pt x="652760" y="605284"/>
                </a:lnTo>
                <a:cubicBezTo>
                  <a:pt x="639068" y="618976"/>
                  <a:pt x="618679" y="622995"/>
                  <a:pt x="600819" y="615553"/>
                </a:cubicBezTo>
                <a:cubicBezTo>
                  <a:pt x="582960" y="608112"/>
                  <a:pt x="571500" y="590699"/>
                  <a:pt x="571500" y="571500"/>
                </a:cubicBezTo>
                <a:lnTo>
                  <a:pt x="571500" y="476250"/>
                </a:lnTo>
                <a:lnTo>
                  <a:pt x="71438" y="476250"/>
                </a:lnTo>
                <a:cubicBezTo>
                  <a:pt x="31998" y="476250"/>
                  <a:pt x="0" y="444252"/>
                  <a:pt x="0" y="404813"/>
                </a:cubicBezTo>
                <a:lnTo>
                  <a:pt x="0" y="357188"/>
                </a:lnTo>
                <a:cubicBezTo>
                  <a:pt x="0" y="317748"/>
                  <a:pt x="31998" y="285750"/>
                  <a:pt x="71438" y="285750"/>
                </a:cubicBezTo>
                <a:lnTo>
                  <a:pt x="571500" y="285750"/>
                </a:lnTo>
                <a:lnTo>
                  <a:pt x="571500" y="190500"/>
                </a:lnTo>
                <a:cubicBezTo>
                  <a:pt x="571500" y="171301"/>
                  <a:pt x="583109" y="153888"/>
                  <a:pt x="600968" y="146447"/>
                </a:cubicBezTo>
                <a:cubicBezTo>
                  <a:pt x="618827" y="139005"/>
                  <a:pt x="639217" y="143173"/>
                  <a:pt x="652909" y="156716"/>
                </a:cubicBezTo>
                <a:lnTo>
                  <a:pt x="843409" y="347216"/>
                </a:lnTo>
                <a:close/>
              </a:path>
            </a:pathLst>
          </a:custGeom>
          <a:solidFill>
            <a:srgbClr val="0056B3"/>
          </a:solidFill>
        </p:spPr>
      </p:sp>
      <p:sp>
        <p:nvSpPr>
          <p:cNvPr id="14" name="Shape 11"/>
          <p:cNvSpPr/>
          <p:nvPr/>
        </p:nvSpPr>
        <p:spPr>
          <a:xfrm>
            <a:off x="7264400" y="3154682"/>
            <a:ext cx="4635500" cy="1879600"/>
          </a:xfrm>
          <a:custGeom>
            <a:avLst/>
            <a:gdLst/>
            <a:ahLst/>
            <a:cxnLst/>
            <a:rect l="l" t="t" r="r" b="b"/>
            <a:pathLst>
              <a:path w="4635500" h="1879600">
                <a:moveTo>
                  <a:pt x="101592" y="0"/>
                </a:moveTo>
                <a:lnTo>
                  <a:pt x="4533908" y="0"/>
                </a:lnTo>
                <a:cubicBezTo>
                  <a:pt x="4590016" y="0"/>
                  <a:pt x="4635500" y="45484"/>
                  <a:pt x="4635500" y="101592"/>
                </a:cubicBezTo>
                <a:lnTo>
                  <a:pt x="4635500" y="1778008"/>
                </a:lnTo>
                <a:cubicBezTo>
                  <a:pt x="4635500" y="1834116"/>
                  <a:pt x="4590016" y="1879600"/>
                  <a:pt x="45339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 w="20320">
            <a:solidFill>
              <a:srgbClr val="007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24420" y="3378200"/>
            <a:ext cx="435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应有：系统目标 (IEP)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13320" y="39268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7" name="Text 14"/>
          <p:cNvSpPr/>
          <p:nvPr/>
        </p:nvSpPr>
        <p:spPr>
          <a:xfrm>
            <a:off x="7818120" y="38862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目标明确：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设定可测量的年度目标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13320" y="42824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9" name="Text 16"/>
          <p:cNvSpPr/>
          <p:nvPr/>
        </p:nvSpPr>
        <p:spPr>
          <a:xfrm>
            <a:off x="7818120" y="42418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策略科学：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基于评估制定个性化策略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13320" y="46380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21" name="Text 18"/>
          <p:cNvSpPr/>
          <p:nvPr/>
        </p:nvSpPr>
        <p:spPr>
          <a:xfrm>
            <a:off x="7818120" y="4597400"/>
            <a:ext cx="398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定期评估：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持续监测并调整计划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635" y="965200"/>
            <a:ext cx="755586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师资与资源：普通课堂无力回应特殊需求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288790" y="1773555"/>
            <a:ext cx="7750810" cy="918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600" dirty="0"/>
              <a:t>The insufficiency of professional support capabilities led to a complete break in the chain of "identification - teaching - training - transfer", making it difficult for Xiaoxu's ability improvement to be generalized to his studies and life.</a:t>
            </a:r>
            <a:endParaRPr lang="en-US" altLang="zh-CN" sz="1600" dirty="0"/>
          </a:p>
        </p:txBody>
      </p:sp>
      <p:sp>
        <p:nvSpPr>
          <p:cNvPr id="6" name="Shape 2"/>
          <p:cNvSpPr/>
          <p:nvPr/>
        </p:nvSpPr>
        <p:spPr>
          <a:xfrm>
            <a:off x="6096000" y="2997200"/>
            <a:ext cx="5842000" cy="863600"/>
          </a:xfrm>
          <a:custGeom>
            <a:avLst/>
            <a:gdLst/>
            <a:ahLst/>
            <a:cxnLst/>
            <a:rect l="l" t="t" r="r" b="b"/>
            <a:pathLst>
              <a:path w="5842000" h="863600">
                <a:moveTo>
                  <a:pt x="101603" y="0"/>
                </a:moveTo>
                <a:lnTo>
                  <a:pt x="5740397" y="0"/>
                </a:lnTo>
                <a:cubicBezTo>
                  <a:pt x="5796511" y="0"/>
                  <a:pt x="5842000" y="45489"/>
                  <a:pt x="5842000" y="101603"/>
                </a:cubicBezTo>
                <a:lnTo>
                  <a:pt x="5842000" y="761997"/>
                </a:lnTo>
                <a:cubicBezTo>
                  <a:pt x="5842000" y="818111"/>
                  <a:pt x="5796511" y="863600"/>
                  <a:pt x="57403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6340475" y="314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123031"/>
                </a:moveTo>
                <a:cubicBezTo>
                  <a:pt x="78269" y="123031"/>
                  <a:pt x="51594" y="96356"/>
                  <a:pt x="51594" y="63500"/>
                </a:cubicBezTo>
                <a:cubicBezTo>
                  <a:pt x="51594" y="30644"/>
                  <a:pt x="78269" y="3969"/>
                  <a:pt x="111125" y="3969"/>
                </a:cubicBezTo>
                <a:cubicBezTo>
                  <a:pt x="143981" y="3969"/>
                  <a:pt x="170656" y="30644"/>
                  <a:pt x="170656" y="63500"/>
                </a:cubicBezTo>
                <a:cubicBezTo>
                  <a:pt x="170656" y="96356"/>
                  <a:pt x="143981" y="123031"/>
                  <a:pt x="111125" y="123031"/>
                </a:cubicBezTo>
                <a:close/>
                <a:moveTo>
                  <a:pt x="95994" y="150813"/>
                </a:moveTo>
                <a:lnTo>
                  <a:pt x="126256" y="150813"/>
                </a:lnTo>
                <a:cubicBezTo>
                  <a:pt x="131068" y="150813"/>
                  <a:pt x="134938" y="154682"/>
                  <a:pt x="134938" y="159494"/>
                </a:cubicBezTo>
                <a:cubicBezTo>
                  <a:pt x="134938" y="161578"/>
                  <a:pt x="134193" y="163562"/>
                  <a:pt x="132854" y="165150"/>
                </a:cubicBezTo>
                <a:lnTo>
                  <a:pt x="119261" y="181025"/>
                </a:lnTo>
                <a:lnTo>
                  <a:pt x="134640" y="238125"/>
                </a:lnTo>
                <a:lnTo>
                  <a:pt x="134938" y="238125"/>
                </a:lnTo>
                <a:lnTo>
                  <a:pt x="152102" y="169416"/>
                </a:lnTo>
                <a:cubicBezTo>
                  <a:pt x="153194" y="165100"/>
                  <a:pt x="157609" y="162471"/>
                  <a:pt x="161776" y="164058"/>
                </a:cubicBezTo>
                <a:cubicBezTo>
                  <a:pt x="192484" y="175766"/>
                  <a:pt x="214313" y="205532"/>
                  <a:pt x="214313" y="240357"/>
                </a:cubicBezTo>
                <a:cubicBezTo>
                  <a:pt x="214313" y="247848"/>
                  <a:pt x="208211" y="253950"/>
                  <a:pt x="200720" y="253950"/>
                </a:cubicBezTo>
                <a:lnTo>
                  <a:pt x="21530" y="254000"/>
                </a:lnTo>
                <a:cubicBezTo>
                  <a:pt x="14039" y="254000"/>
                  <a:pt x="7938" y="247898"/>
                  <a:pt x="7938" y="240407"/>
                </a:cubicBezTo>
                <a:cubicBezTo>
                  <a:pt x="7938" y="205581"/>
                  <a:pt x="29766" y="175816"/>
                  <a:pt x="60474" y="164108"/>
                </a:cubicBezTo>
                <a:cubicBezTo>
                  <a:pt x="64641" y="162520"/>
                  <a:pt x="69056" y="165150"/>
                  <a:pt x="70148" y="169466"/>
                </a:cubicBezTo>
                <a:lnTo>
                  <a:pt x="87313" y="238175"/>
                </a:lnTo>
                <a:lnTo>
                  <a:pt x="87610" y="238175"/>
                </a:lnTo>
                <a:lnTo>
                  <a:pt x="102989" y="181074"/>
                </a:lnTo>
                <a:lnTo>
                  <a:pt x="89396" y="165199"/>
                </a:lnTo>
                <a:cubicBezTo>
                  <a:pt x="88057" y="163612"/>
                  <a:pt x="87313" y="161627"/>
                  <a:pt x="87313" y="159544"/>
                </a:cubicBezTo>
                <a:cubicBezTo>
                  <a:pt x="87313" y="154732"/>
                  <a:pt x="91182" y="150862"/>
                  <a:pt x="95994" y="150862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8" name="Text 4"/>
          <p:cNvSpPr/>
          <p:nvPr/>
        </p:nvSpPr>
        <p:spPr>
          <a:xfrm>
            <a:off x="6807200" y="3149600"/>
            <a:ext cx="405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师资专业素养欠缺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07200" y="3454400"/>
            <a:ext cx="4038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缺乏ADHD与感统专业知识，将多动视为“调皮”。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096000" y="4013200"/>
            <a:ext cx="5842000" cy="863600"/>
          </a:xfrm>
          <a:custGeom>
            <a:avLst/>
            <a:gdLst/>
            <a:ahLst/>
            <a:cxnLst/>
            <a:rect l="l" t="t" r="r" b="b"/>
            <a:pathLst>
              <a:path w="5842000" h="863600">
                <a:moveTo>
                  <a:pt x="101603" y="0"/>
                </a:moveTo>
                <a:lnTo>
                  <a:pt x="5740397" y="0"/>
                </a:lnTo>
                <a:cubicBezTo>
                  <a:pt x="5796511" y="0"/>
                  <a:pt x="5842000" y="45489"/>
                  <a:pt x="5842000" y="101603"/>
                </a:cubicBezTo>
                <a:lnTo>
                  <a:pt x="5842000" y="761997"/>
                </a:lnTo>
                <a:cubicBezTo>
                  <a:pt x="5842000" y="818111"/>
                  <a:pt x="5796511" y="863600"/>
                  <a:pt x="57403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1" name="Shape 7"/>
          <p:cNvSpPr/>
          <p:nvPr/>
        </p:nvSpPr>
        <p:spPr>
          <a:xfrm>
            <a:off x="6340475" y="4165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5875" y="31750"/>
                </a:moveTo>
                <a:cubicBezTo>
                  <a:pt x="15875" y="14238"/>
                  <a:pt x="30113" y="0"/>
                  <a:pt x="47625" y="0"/>
                </a:cubicBezTo>
                <a:lnTo>
                  <a:pt x="174625" y="0"/>
                </a:lnTo>
                <a:cubicBezTo>
                  <a:pt x="192137" y="0"/>
                  <a:pt x="206375" y="14238"/>
                  <a:pt x="206375" y="31750"/>
                </a:cubicBezTo>
                <a:lnTo>
                  <a:pt x="206375" y="222250"/>
                </a:lnTo>
                <a:cubicBezTo>
                  <a:pt x="215156" y="222250"/>
                  <a:pt x="222250" y="229344"/>
                  <a:pt x="222250" y="238125"/>
                </a:cubicBezTo>
                <a:cubicBezTo>
                  <a:pt x="222250" y="246906"/>
                  <a:pt x="215156" y="254000"/>
                  <a:pt x="206375" y="254000"/>
                </a:cubicBezTo>
                <a:lnTo>
                  <a:pt x="15875" y="254000"/>
                </a:lnTo>
                <a:cubicBezTo>
                  <a:pt x="7094" y="254000"/>
                  <a:pt x="0" y="246906"/>
                  <a:pt x="0" y="238125"/>
                </a:cubicBezTo>
                <a:cubicBezTo>
                  <a:pt x="0" y="229344"/>
                  <a:pt x="7094" y="222250"/>
                  <a:pt x="15875" y="222250"/>
                </a:cubicBezTo>
                <a:lnTo>
                  <a:pt x="15875" y="31750"/>
                </a:lnTo>
                <a:close/>
                <a:moveTo>
                  <a:pt x="158750" y="142875"/>
                </a:moveTo>
                <a:cubicBezTo>
                  <a:pt x="167512" y="142875"/>
                  <a:pt x="174625" y="135762"/>
                  <a:pt x="174625" y="127000"/>
                </a:cubicBezTo>
                <a:cubicBezTo>
                  <a:pt x="174625" y="118238"/>
                  <a:pt x="167512" y="111125"/>
                  <a:pt x="158750" y="111125"/>
                </a:cubicBezTo>
                <a:cubicBezTo>
                  <a:pt x="149988" y="111125"/>
                  <a:pt x="142875" y="118238"/>
                  <a:pt x="142875" y="127000"/>
                </a:cubicBezTo>
                <a:cubicBezTo>
                  <a:pt x="142875" y="135762"/>
                  <a:pt x="149988" y="142875"/>
                  <a:pt x="158750" y="142875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12" name="Text 8"/>
          <p:cNvSpPr/>
          <p:nvPr/>
        </p:nvSpPr>
        <p:spPr>
          <a:xfrm>
            <a:off x="6807200" y="4165600"/>
            <a:ext cx="454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资源教室利用不充分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07200" y="4470400"/>
            <a:ext cx="453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仅用于评估，缺乏康复器材，未转化为常态化训练场所。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096000" y="5029200"/>
            <a:ext cx="5842000" cy="863600"/>
          </a:xfrm>
          <a:custGeom>
            <a:avLst/>
            <a:gdLst/>
            <a:ahLst/>
            <a:cxnLst/>
            <a:rect l="l" t="t" r="r" b="b"/>
            <a:pathLst>
              <a:path w="5842000" h="863600">
                <a:moveTo>
                  <a:pt x="101603" y="0"/>
                </a:moveTo>
                <a:lnTo>
                  <a:pt x="5740397" y="0"/>
                </a:lnTo>
                <a:cubicBezTo>
                  <a:pt x="5796511" y="0"/>
                  <a:pt x="5842000" y="45489"/>
                  <a:pt x="5842000" y="101603"/>
                </a:cubicBezTo>
                <a:lnTo>
                  <a:pt x="5842000" y="761997"/>
                </a:lnTo>
                <a:cubicBezTo>
                  <a:pt x="5842000" y="818111"/>
                  <a:pt x="5796511" y="863600"/>
                  <a:pt x="57403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6292850" y="5181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36215" y="-12353"/>
                </a:moveTo>
                <a:cubicBezTo>
                  <a:pt x="31552" y="-17016"/>
                  <a:pt x="24011" y="-17016"/>
                  <a:pt x="19397" y="-12353"/>
                </a:cubicBezTo>
                <a:cubicBezTo>
                  <a:pt x="14784" y="-7689"/>
                  <a:pt x="14734" y="-149"/>
                  <a:pt x="19348" y="4514"/>
                </a:cubicBezTo>
                <a:lnTo>
                  <a:pt x="281285" y="266452"/>
                </a:lnTo>
                <a:cubicBezTo>
                  <a:pt x="285948" y="271115"/>
                  <a:pt x="293489" y="271115"/>
                  <a:pt x="298103" y="266452"/>
                </a:cubicBezTo>
                <a:cubicBezTo>
                  <a:pt x="302716" y="261789"/>
                  <a:pt x="302766" y="254248"/>
                  <a:pt x="298103" y="249634"/>
                </a:cubicBezTo>
                <a:lnTo>
                  <a:pt x="159643" y="111125"/>
                </a:lnTo>
                <a:cubicBezTo>
                  <a:pt x="187722" y="110629"/>
                  <a:pt x="210344" y="87709"/>
                  <a:pt x="210344" y="59531"/>
                </a:cubicBezTo>
                <a:cubicBezTo>
                  <a:pt x="210344" y="31055"/>
                  <a:pt x="187226" y="7938"/>
                  <a:pt x="158750" y="7938"/>
                </a:cubicBezTo>
                <a:cubicBezTo>
                  <a:pt x="130572" y="7938"/>
                  <a:pt x="107652" y="30559"/>
                  <a:pt x="107156" y="58638"/>
                </a:cubicBezTo>
                <a:lnTo>
                  <a:pt x="36215" y="-12353"/>
                </a:lnTo>
                <a:close/>
                <a:moveTo>
                  <a:pt x="254000" y="142875"/>
                </a:moveTo>
                <a:cubicBezTo>
                  <a:pt x="245467" y="142875"/>
                  <a:pt x="237282" y="144562"/>
                  <a:pt x="229840" y="147638"/>
                </a:cubicBezTo>
                <a:lnTo>
                  <a:pt x="314176" y="231973"/>
                </a:lnTo>
                <a:cubicBezTo>
                  <a:pt x="316260" y="229295"/>
                  <a:pt x="317500" y="225921"/>
                  <a:pt x="317500" y="222250"/>
                </a:cubicBezTo>
                <a:lnTo>
                  <a:pt x="317500" y="206375"/>
                </a:lnTo>
                <a:cubicBezTo>
                  <a:pt x="317500" y="171301"/>
                  <a:pt x="289074" y="142875"/>
                  <a:pt x="254000" y="142875"/>
                </a:cubicBezTo>
                <a:close/>
                <a:moveTo>
                  <a:pt x="29716" y="48468"/>
                </a:moveTo>
                <a:cubicBezTo>
                  <a:pt x="19050" y="54670"/>
                  <a:pt x="11906" y="66179"/>
                  <a:pt x="11906" y="79375"/>
                </a:cubicBezTo>
                <a:cubicBezTo>
                  <a:pt x="11906" y="99120"/>
                  <a:pt x="27880" y="115094"/>
                  <a:pt x="47625" y="115094"/>
                </a:cubicBezTo>
                <a:cubicBezTo>
                  <a:pt x="60821" y="115094"/>
                  <a:pt x="72330" y="107950"/>
                  <a:pt x="78532" y="97284"/>
                </a:cubicBezTo>
                <a:lnTo>
                  <a:pt x="29716" y="48468"/>
                </a:lnTo>
                <a:close/>
                <a:moveTo>
                  <a:pt x="124123" y="142875"/>
                </a:moveTo>
                <a:cubicBezTo>
                  <a:pt x="97631" y="155724"/>
                  <a:pt x="79375" y="182910"/>
                  <a:pt x="79375" y="214313"/>
                </a:cubicBezTo>
                <a:lnTo>
                  <a:pt x="79375" y="222250"/>
                </a:lnTo>
                <a:cubicBezTo>
                  <a:pt x="79375" y="231031"/>
                  <a:pt x="86469" y="238125"/>
                  <a:pt x="95250" y="238125"/>
                </a:cubicBezTo>
                <a:lnTo>
                  <a:pt x="219373" y="238125"/>
                </a:lnTo>
                <a:lnTo>
                  <a:pt x="124123" y="142875"/>
                </a:lnTo>
                <a:close/>
                <a:moveTo>
                  <a:pt x="63500" y="142875"/>
                </a:moveTo>
                <a:cubicBezTo>
                  <a:pt x="28426" y="142875"/>
                  <a:pt x="0" y="171301"/>
                  <a:pt x="0" y="206375"/>
                </a:cubicBez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58886" y="238125"/>
                </a:lnTo>
                <a:cubicBezTo>
                  <a:pt x="56753" y="233263"/>
                  <a:pt x="55563" y="227905"/>
                  <a:pt x="55563" y="222250"/>
                </a:cubicBezTo>
                <a:lnTo>
                  <a:pt x="55563" y="214313"/>
                </a:lnTo>
                <a:cubicBezTo>
                  <a:pt x="55563" y="187920"/>
                  <a:pt x="65484" y="163810"/>
                  <a:pt x="81806" y="145554"/>
                </a:cubicBezTo>
                <a:cubicBezTo>
                  <a:pt x="76002" y="143818"/>
                  <a:pt x="69850" y="142875"/>
                  <a:pt x="63500" y="142875"/>
                </a:cubicBezTo>
                <a:close/>
                <a:moveTo>
                  <a:pt x="305594" y="79375"/>
                </a:moveTo>
                <a:cubicBezTo>
                  <a:pt x="305594" y="59661"/>
                  <a:pt x="289589" y="43656"/>
                  <a:pt x="269875" y="43656"/>
                </a:cubicBezTo>
                <a:cubicBezTo>
                  <a:pt x="250161" y="43656"/>
                  <a:pt x="234156" y="59661"/>
                  <a:pt x="234156" y="79375"/>
                </a:cubicBezTo>
                <a:cubicBezTo>
                  <a:pt x="234156" y="99089"/>
                  <a:pt x="250161" y="115094"/>
                  <a:pt x="269875" y="115094"/>
                </a:cubicBezTo>
                <a:cubicBezTo>
                  <a:pt x="289589" y="115094"/>
                  <a:pt x="305594" y="99089"/>
                  <a:pt x="305594" y="79375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16" name="Text 12"/>
          <p:cNvSpPr/>
          <p:nvPr/>
        </p:nvSpPr>
        <p:spPr>
          <a:xfrm>
            <a:off x="6807200" y="5181600"/>
            <a:ext cx="421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缺乏跨学科协作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807200" y="54864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未形成“普教+特教+康复”团队，训练与教学脱节。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322070" y="1879600"/>
            <a:ext cx="3472815" cy="14452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具体如下：</a:t>
            </a:r>
            <a:endParaRPr lang="zh-CN" altLang="en-US" sz="4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  <a:p>
            <a:endParaRPr lang="zh-CN" altLang="en-US" sz="440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2553970" y="3149600"/>
            <a:ext cx="637540" cy="29641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5715" y="911860"/>
            <a:ext cx="963993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学校未按《残疾人教育条例》要求为小煦制定</a:t>
            </a:r>
            <a:r>
              <a:rPr lang="en-US" altLang="zh-CN" sz="2400"/>
              <a:t> IEP</a:t>
            </a:r>
            <a:r>
              <a:rPr lang="zh-CN" altLang="en-US" sz="2400"/>
              <a:t>，现有支持均为临时安排：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学业支持碎片化：一年级依赖</a:t>
            </a:r>
            <a:r>
              <a:rPr lang="en-US" altLang="zh-CN" sz="2400"/>
              <a:t> “</a:t>
            </a:r>
            <a:r>
              <a:rPr lang="zh-CN" altLang="en-US" sz="2400"/>
              <a:t>母亲全程陪读</a:t>
            </a:r>
            <a:r>
              <a:rPr lang="en-US" altLang="zh-CN" sz="2400"/>
              <a:t>”</a:t>
            </a:r>
            <a:r>
              <a:rPr lang="zh-CN" altLang="en-US" sz="2400"/>
              <a:t>，母亲撤离后（二年级）仅靠</a:t>
            </a:r>
            <a:r>
              <a:rPr lang="en-US" altLang="zh-CN" sz="2400"/>
              <a:t> “</a:t>
            </a:r>
            <a:r>
              <a:rPr lang="zh-CN" altLang="en-US" sz="2400"/>
              <a:t>教师偶尔提示</a:t>
            </a:r>
            <a:r>
              <a:rPr lang="en-US" altLang="zh-CN" sz="2400"/>
              <a:t>” </a:t>
            </a:r>
            <a:r>
              <a:rPr lang="zh-CN" altLang="en-US" sz="2400"/>
              <a:t>维持学习</a:t>
            </a:r>
            <a:r>
              <a:rPr lang="en-US" altLang="zh-CN" sz="2400"/>
              <a:t> —— </a:t>
            </a:r>
            <a:r>
              <a:rPr lang="zh-CN" altLang="en-US" sz="2400"/>
              <a:t>语文课堂上</a:t>
            </a:r>
            <a:r>
              <a:rPr lang="en-US" altLang="zh-CN" sz="2400"/>
              <a:t> “</a:t>
            </a:r>
            <a:r>
              <a:rPr lang="zh-CN" altLang="en-US" sz="2400"/>
              <a:t>朗读短文时漏字，需教师逐字提醒才能纠正</a:t>
            </a:r>
            <a:r>
              <a:rPr lang="en-US" altLang="zh-CN" sz="2400"/>
              <a:t>”</a:t>
            </a:r>
            <a:r>
              <a:rPr lang="zh-CN" altLang="en-US" sz="2400"/>
              <a:t>，数学应用题</a:t>
            </a:r>
            <a:r>
              <a:rPr lang="en-US" altLang="zh-CN" sz="2400"/>
              <a:t> “</a:t>
            </a:r>
            <a:r>
              <a:rPr lang="zh-CN" altLang="en-US" sz="2400"/>
              <a:t>需教师读题</a:t>
            </a:r>
            <a:r>
              <a:rPr lang="en-US" altLang="zh-CN" sz="2400"/>
              <a:t> 3 </a:t>
            </a:r>
            <a:r>
              <a:rPr lang="zh-CN" altLang="en-US" sz="2400"/>
              <a:t>遍才能理解题意</a:t>
            </a:r>
            <a:r>
              <a:rPr lang="en-US" altLang="zh-CN" sz="2400"/>
              <a:t>”</a:t>
            </a:r>
            <a:r>
              <a:rPr lang="zh-CN" altLang="en-US" sz="2400"/>
              <a:t>，但教师未设计</a:t>
            </a:r>
            <a:r>
              <a:rPr lang="en-US" altLang="zh-CN" sz="2400"/>
              <a:t> “</a:t>
            </a:r>
            <a:r>
              <a:rPr lang="zh-CN" altLang="en-US" sz="2400"/>
              <a:t>逐步减少提示、培养独立学习</a:t>
            </a:r>
            <a:r>
              <a:rPr lang="en-US" altLang="zh-CN" sz="2400"/>
              <a:t>” </a:t>
            </a:r>
            <a:r>
              <a:rPr lang="zh-CN" altLang="en-US" sz="2400"/>
              <a:t>的过渡方案，导致小煦</a:t>
            </a:r>
            <a:r>
              <a:rPr lang="en-US" altLang="zh-CN" sz="2400"/>
              <a:t> “</a:t>
            </a:r>
            <a:r>
              <a:rPr lang="zh-CN" altLang="en-US" sz="2400"/>
              <a:t>遇到难题倾向逃避</a:t>
            </a:r>
            <a:r>
              <a:rPr lang="en-US" altLang="zh-CN" sz="2400"/>
              <a:t>”</a:t>
            </a:r>
            <a:r>
              <a:rPr lang="zh-CN" altLang="en-US" sz="2400"/>
              <a:t>，如智力测验中被问及</a:t>
            </a:r>
            <a:r>
              <a:rPr lang="en-US" altLang="zh-CN" sz="2400"/>
              <a:t> “</a:t>
            </a:r>
            <a:r>
              <a:rPr lang="zh-CN" altLang="en-US" sz="2400"/>
              <a:t>如何解决</a:t>
            </a:r>
            <a:r>
              <a:rPr lang="en-US" altLang="zh-CN" sz="2400"/>
              <a:t>‘</a:t>
            </a:r>
            <a:r>
              <a:rPr lang="zh-CN" altLang="en-US" sz="2400"/>
              <a:t>迷路</a:t>
            </a:r>
            <a:r>
              <a:rPr lang="en-US" altLang="zh-CN" sz="2400"/>
              <a:t>’</a:t>
            </a:r>
            <a:r>
              <a:rPr lang="zh-CN" altLang="en-US" sz="2400"/>
              <a:t>问题时，回答</a:t>
            </a:r>
            <a:r>
              <a:rPr lang="en-US" altLang="zh-CN" sz="2400"/>
              <a:t>‘</a:t>
            </a:r>
            <a:r>
              <a:rPr lang="zh-CN" altLang="en-US" sz="2400"/>
              <a:t>我要躲开</a:t>
            </a:r>
            <a:r>
              <a:rPr lang="en-US" altLang="zh-CN" sz="2400"/>
              <a:t>’”</a:t>
            </a:r>
            <a:r>
              <a:rPr lang="zh-CN" altLang="en-US" sz="2400"/>
              <a:t>，独立解决问题能力无法提升；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康复支持空白化：资源教室仅用于</a:t>
            </a:r>
            <a:r>
              <a:rPr lang="en-US" altLang="zh-CN" sz="2400"/>
              <a:t> “</a:t>
            </a:r>
            <a:r>
              <a:rPr lang="zh-CN" altLang="en-US" sz="2400"/>
              <a:t>评估</a:t>
            </a:r>
            <a:r>
              <a:rPr lang="en-US" altLang="zh-CN" sz="2400"/>
              <a:t>”</a:t>
            </a:r>
            <a:r>
              <a:rPr lang="zh-CN" altLang="en-US" sz="2400"/>
              <a:t>（如开展感觉统合测评、智力筛查），未转化为兼容常态化提供康复辅助场所。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23365" y="965200"/>
            <a:ext cx="938212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学校与家庭的协作仅停留在</a:t>
            </a:r>
            <a:r>
              <a:rPr lang="en-US" altLang="zh-CN" sz="2400"/>
              <a:t> “</a:t>
            </a:r>
            <a:r>
              <a:rPr lang="zh-CN" altLang="en-US" sz="2400"/>
              <a:t>信息告知</a:t>
            </a:r>
            <a:r>
              <a:rPr lang="en-US" altLang="zh-CN" sz="2400"/>
              <a:t>” </a:t>
            </a:r>
            <a:r>
              <a:rPr lang="zh-CN" altLang="en-US" sz="2400"/>
              <a:t>层面，未将家庭资源转化为训练优势：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>
                <a:solidFill>
                  <a:srgbClr val="FF0000"/>
                </a:solidFill>
              </a:rPr>
              <a:t>未指导家庭延伸康复训练</a:t>
            </a:r>
            <a:r>
              <a:rPr lang="zh-CN" altLang="en-US" sz="2400"/>
              <a:t>：案例中提到</a:t>
            </a:r>
            <a:r>
              <a:rPr lang="en-US" altLang="zh-CN" sz="2400"/>
              <a:t> “</a:t>
            </a:r>
            <a:r>
              <a:rPr lang="zh-CN" altLang="en-US" sz="2400"/>
              <a:t>家长每周末带小煦去公园、超市</a:t>
            </a:r>
            <a:r>
              <a:rPr lang="en-US" altLang="zh-CN" sz="2400"/>
              <a:t>”</a:t>
            </a:r>
            <a:r>
              <a:rPr lang="zh-CN" altLang="en-US" sz="2400"/>
              <a:t>，但学校未提供</a:t>
            </a:r>
            <a:r>
              <a:rPr lang="en-US" altLang="zh-CN" sz="2400"/>
              <a:t> “</a:t>
            </a:r>
            <a:r>
              <a:rPr lang="zh-CN" altLang="en-US" sz="2400"/>
              <a:t>家庭康复任务清单</a:t>
            </a:r>
            <a:r>
              <a:rPr lang="en-US" altLang="zh-CN" sz="2400"/>
              <a:t>”</a:t>
            </a:r>
            <a:r>
              <a:rPr lang="zh-CN" altLang="en-US" sz="2400"/>
              <a:t>，如</a:t>
            </a:r>
            <a:r>
              <a:rPr lang="en-US" altLang="zh-CN" sz="2400"/>
              <a:t> “</a:t>
            </a:r>
            <a:r>
              <a:rPr lang="zh-CN" altLang="en-US" sz="2400"/>
              <a:t>在超市触摸不同材质商品（缓解触觉防御）</a:t>
            </a:r>
            <a:r>
              <a:rPr lang="en-US" altLang="zh-CN" sz="2400"/>
              <a:t>”“</a:t>
            </a:r>
            <a:r>
              <a:rPr lang="zh-CN" altLang="en-US" sz="2400"/>
              <a:t>在公园练习单脚站立（提升本体感）</a:t>
            </a:r>
            <a:r>
              <a:rPr lang="en-US" altLang="zh-CN" sz="2400"/>
              <a:t>”</a:t>
            </a:r>
            <a:r>
              <a:rPr lang="zh-CN" altLang="en-US" sz="2400"/>
              <a:t>，导致家庭户外活动仅为</a:t>
            </a:r>
            <a:r>
              <a:rPr lang="en-US" altLang="zh-CN" sz="2400"/>
              <a:t> “</a:t>
            </a:r>
            <a:r>
              <a:rPr lang="zh-CN" altLang="en-US" sz="2400"/>
              <a:t>休闲娱乐</a:t>
            </a:r>
            <a:r>
              <a:rPr lang="en-US" altLang="zh-CN" sz="2400"/>
              <a:t>”</a:t>
            </a:r>
            <a:r>
              <a:rPr lang="zh-CN" altLang="en-US" sz="2400"/>
              <a:t>，未发挥康复价值；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>
                <a:solidFill>
                  <a:srgbClr val="FF0000"/>
                </a:solidFill>
              </a:rPr>
              <a:t>未干预家庭过度保护教养</a:t>
            </a:r>
            <a:r>
              <a:rPr lang="zh-CN" altLang="en-US" sz="2400"/>
              <a:t>：母亲</a:t>
            </a:r>
            <a:r>
              <a:rPr lang="en-US" altLang="zh-CN" sz="2400"/>
              <a:t> “</a:t>
            </a:r>
            <a:r>
              <a:rPr lang="zh-CN" altLang="en-US" sz="2400"/>
              <a:t>包办洗脸、洗澡、洗碗</a:t>
            </a:r>
            <a:r>
              <a:rPr lang="en-US" altLang="zh-CN" sz="2400"/>
              <a:t>”</a:t>
            </a:r>
            <a:r>
              <a:rPr lang="zh-CN" altLang="en-US" sz="2400"/>
              <a:t>，小煦</a:t>
            </a:r>
            <a:r>
              <a:rPr lang="en-US" altLang="zh-CN" sz="2400"/>
              <a:t> “</a:t>
            </a:r>
            <a:r>
              <a:rPr lang="zh-CN" altLang="en-US" sz="2400"/>
              <a:t>生活自理中</a:t>
            </a:r>
            <a:r>
              <a:rPr lang="en-US" altLang="zh-CN" sz="2400"/>
              <a:t>‘</a:t>
            </a:r>
            <a:r>
              <a:rPr lang="zh-CN" altLang="en-US" sz="2400"/>
              <a:t>洗</a:t>
            </a:r>
            <a:r>
              <a:rPr lang="en-US" altLang="zh-CN" sz="2400"/>
              <a:t>’</a:t>
            </a:r>
            <a:r>
              <a:rPr lang="zh-CN" altLang="en-US" sz="2400"/>
              <a:t>的能力全缺失</a:t>
            </a:r>
            <a:r>
              <a:rPr lang="en-US" altLang="zh-CN" sz="2400"/>
              <a:t>”</a:t>
            </a:r>
            <a:r>
              <a:rPr lang="zh-CN" altLang="en-US" sz="2400"/>
              <a:t>，学校未与家长沟通</a:t>
            </a:r>
            <a:r>
              <a:rPr lang="en-US" altLang="zh-CN" sz="2400"/>
              <a:t> “</a:t>
            </a:r>
            <a:r>
              <a:rPr lang="zh-CN" altLang="en-US" sz="2400"/>
              <a:t>任务分解训练法</a:t>
            </a:r>
            <a:r>
              <a:rPr lang="en-US" altLang="zh-CN" sz="2400"/>
              <a:t>”</a:t>
            </a:r>
            <a:r>
              <a:rPr lang="zh-CN" altLang="en-US" sz="2400"/>
              <a:t>（如将洗澡拆分为</a:t>
            </a:r>
            <a:r>
              <a:rPr lang="en-US" altLang="zh-CN" sz="2400"/>
              <a:t> “</a:t>
            </a:r>
            <a:r>
              <a:rPr lang="zh-CN" altLang="en-US" sz="2400"/>
              <a:t>脱衣服</a:t>
            </a:r>
            <a:r>
              <a:rPr lang="en-US" altLang="en-US" sz="2400"/>
              <a:t>→</a:t>
            </a:r>
            <a:r>
              <a:rPr lang="zh-CN" altLang="en-US" sz="2400"/>
              <a:t>调水温</a:t>
            </a:r>
            <a:r>
              <a:rPr lang="en-US" altLang="en-US" sz="2400"/>
              <a:t>→</a:t>
            </a:r>
            <a:r>
              <a:rPr lang="zh-CN" altLang="en-US" sz="2400"/>
              <a:t>搓澡</a:t>
            </a:r>
            <a:r>
              <a:rPr lang="en-US" altLang="en-US" sz="2400"/>
              <a:t>→</a:t>
            </a:r>
            <a:r>
              <a:rPr lang="zh-CN" altLang="en-US" sz="2400"/>
              <a:t>冲洗</a:t>
            </a:r>
            <a:r>
              <a:rPr lang="en-US" altLang="en-US" sz="2400"/>
              <a:t>→</a:t>
            </a:r>
            <a:r>
              <a:rPr lang="zh-CN" altLang="en-US" sz="2400"/>
              <a:t>穿衣服</a:t>
            </a:r>
            <a:r>
              <a:rPr lang="en-US" altLang="zh-CN" sz="2400"/>
              <a:t>”</a:t>
            </a:r>
            <a:r>
              <a:rPr lang="zh-CN" altLang="en-US" sz="2400"/>
              <a:t>），反而默认</a:t>
            </a:r>
            <a:r>
              <a:rPr lang="en-US" altLang="zh-CN" sz="2400"/>
              <a:t> “</a:t>
            </a:r>
            <a:r>
              <a:rPr lang="zh-CN" altLang="en-US" sz="2400"/>
              <a:t>母亲辅助</a:t>
            </a:r>
            <a:r>
              <a:rPr lang="en-US" altLang="zh-CN" sz="2400"/>
              <a:t>” </a:t>
            </a:r>
            <a:r>
              <a:rPr lang="zh-CN" altLang="en-US" sz="2400"/>
              <a:t>的模式，强化小煦的依赖性，使其</a:t>
            </a:r>
            <a:r>
              <a:rPr lang="en-US" altLang="zh-CN" sz="2400"/>
              <a:t> “</a:t>
            </a:r>
            <a:r>
              <a:rPr lang="zh-CN" altLang="en-US" sz="2400"/>
              <a:t>独立洗脸</a:t>
            </a:r>
            <a:r>
              <a:rPr lang="en-US" altLang="zh-CN" sz="2400"/>
              <a:t>” </a:t>
            </a:r>
            <a:r>
              <a:rPr lang="zh-CN" altLang="en-US" sz="2400"/>
              <a:t>的教育目标长期无法实现。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17270" y="1136650"/>
            <a:ext cx="9583420" cy="287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适配教学技巧缺失：教师未掌握针对双重残障的教学方法，仍采用</a:t>
            </a:r>
            <a:r>
              <a:rPr lang="en-US" altLang="zh-CN" sz="2400"/>
              <a:t> “</a:t>
            </a:r>
            <a:r>
              <a:rPr lang="zh-CN" altLang="en-US" sz="2400"/>
              <a:t>统一进度、统一要求</a:t>
            </a:r>
            <a:r>
              <a:rPr lang="en-US" altLang="zh-CN" sz="2400"/>
              <a:t>” </a:t>
            </a:r>
            <a:r>
              <a:rPr lang="zh-CN" altLang="en-US" sz="2400"/>
              <a:t>的普通教学模式。语文教学中，</a:t>
            </a:r>
            <a:r>
              <a:rPr lang="en-US" altLang="zh-CN" sz="2400"/>
              <a:t>“</a:t>
            </a:r>
            <a:r>
              <a:rPr lang="zh-CN" altLang="en-US" sz="2400"/>
              <a:t>拼音教学仅用</a:t>
            </a:r>
            <a:r>
              <a:rPr lang="en-US" altLang="zh-CN" sz="2400"/>
              <a:t> 2 </a:t>
            </a:r>
            <a:r>
              <a:rPr lang="zh-CN" altLang="en-US" sz="2400"/>
              <a:t>周完成整体认读音节</a:t>
            </a:r>
            <a:r>
              <a:rPr lang="en-US" altLang="zh-CN" sz="2400"/>
              <a:t>”</a:t>
            </a:r>
            <a:r>
              <a:rPr lang="zh-CN" altLang="en-US" sz="2400"/>
              <a:t>，小煦因</a:t>
            </a:r>
            <a:r>
              <a:rPr lang="en-US" altLang="zh-CN" sz="2400"/>
              <a:t> ADHD </a:t>
            </a:r>
            <a:r>
              <a:rPr lang="zh-CN" altLang="en-US" sz="2400"/>
              <a:t>的工作记忆薄弱，</a:t>
            </a:r>
            <a:r>
              <a:rPr lang="en-US" altLang="zh-CN" sz="2400"/>
              <a:t>“16 </a:t>
            </a:r>
            <a:r>
              <a:rPr lang="zh-CN" altLang="en-US" sz="2400"/>
              <a:t>个整体认读音节有</a:t>
            </a:r>
            <a:r>
              <a:rPr lang="en-US" altLang="zh-CN" sz="2400"/>
              <a:t> 6 </a:t>
            </a:r>
            <a:r>
              <a:rPr lang="zh-CN" altLang="en-US" sz="2400"/>
              <a:t>个不认识（如</a:t>
            </a:r>
            <a:r>
              <a:rPr lang="en-US" altLang="zh-CN" sz="2400"/>
              <a:t>‘zhi</a:t>
            </a:r>
            <a:r>
              <a:rPr lang="zh-CN" altLang="en-US" sz="2400"/>
              <a:t>、</a:t>
            </a:r>
            <a:r>
              <a:rPr lang="en-US" altLang="zh-CN" sz="2400"/>
              <a:t>chi’</a:t>
            </a:r>
            <a:r>
              <a:rPr lang="zh-CN" altLang="en-US" sz="2400"/>
              <a:t>）</a:t>
            </a:r>
            <a:r>
              <a:rPr lang="en-US" altLang="zh-CN" sz="2400"/>
              <a:t>”</a:t>
            </a:r>
            <a:r>
              <a:rPr lang="zh-CN" altLang="en-US" sz="2400"/>
              <a:t>，教师仍通过</a:t>
            </a:r>
            <a:r>
              <a:rPr lang="en-US" altLang="zh-CN" sz="2400"/>
              <a:t> “</a:t>
            </a:r>
            <a:r>
              <a:rPr lang="zh-CN" altLang="en-US" sz="2400"/>
              <a:t>反复听写</a:t>
            </a:r>
            <a:r>
              <a:rPr lang="en-US" altLang="zh-CN" sz="2400"/>
              <a:t>” </a:t>
            </a:r>
            <a:r>
              <a:rPr lang="zh-CN" altLang="en-US" sz="2400"/>
              <a:t>强化，未采用</a:t>
            </a:r>
            <a:r>
              <a:rPr lang="en-US" altLang="zh-CN" sz="2400"/>
              <a:t> “</a:t>
            </a:r>
            <a:r>
              <a:rPr lang="zh-CN" altLang="en-US" sz="2400"/>
              <a:t>多感官教学（口型动作</a:t>
            </a:r>
            <a:r>
              <a:rPr lang="en-US" altLang="zh-CN" sz="2400"/>
              <a:t> + </a:t>
            </a:r>
            <a:r>
              <a:rPr lang="zh-CN" altLang="en-US" sz="2400"/>
              <a:t>触摸拼音卡片）</a:t>
            </a:r>
            <a:r>
              <a:rPr lang="en-US" altLang="zh-CN" sz="2400"/>
              <a:t>”</a:t>
            </a:r>
            <a:r>
              <a:rPr lang="zh-CN" altLang="en-US" sz="2400"/>
              <a:t>；数学教学中，</a:t>
            </a:r>
            <a:r>
              <a:rPr lang="en-US" altLang="zh-CN" sz="2400"/>
              <a:t>“</a:t>
            </a:r>
            <a:r>
              <a:rPr lang="zh-CN" altLang="en-US" sz="2400"/>
              <a:t>圆柱认知仅靠看图讲解</a:t>
            </a:r>
            <a:r>
              <a:rPr lang="en-US" altLang="zh-CN" sz="2400"/>
              <a:t>”</a:t>
            </a:r>
            <a:r>
              <a:rPr lang="zh-CN" altLang="en-US" sz="2400"/>
              <a:t>，小煦因感觉统合失调的空间感知不足，</a:t>
            </a:r>
            <a:r>
              <a:rPr lang="en-US" altLang="zh-CN" sz="2400"/>
              <a:t>“</a:t>
            </a:r>
            <a:r>
              <a:rPr lang="zh-CN" altLang="en-US" sz="2400"/>
              <a:t>将圆柱说成</a:t>
            </a:r>
            <a:r>
              <a:rPr lang="en-US" altLang="zh-CN" sz="2400"/>
              <a:t>‘</a:t>
            </a:r>
            <a:r>
              <a:rPr lang="zh-CN" altLang="en-US" sz="2400"/>
              <a:t>长圆</a:t>
            </a:r>
            <a:r>
              <a:rPr lang="en-US" altLang="zh-CN" sz="2400"/>
              <a:t>’”</a:t>
            </a:r>
            <a:r>
              <a:rPr lang="zh-CN" altLang="en-US" sz="2400"/>
              <a:t>，教师未提供立体模型辅助，仅反复纠正</a:t>
            </a:r>
            <a:r>
              <a:rPr lang="en-US" altLang="zh-CN" sz="2400"/>
              <a:t> “</a:t>
            </a:r>
            <a:r>
              <a:rPr lang="zh-CN" altLang="en-US" sz="2400"/>
              <a:t>这是圆柱不是长圆</a:t>
            </a:r>
            <a:r>
              <a:rPr lang="en-US" altLang="zh-CN" sz="2400"/>
              <a:t>”</a:t>
            </a:r>
            <a:r>
              <a:rPr lang="zh-CN" altLang="en-US" sz="2400"/>
              <a:t>，导致小煦始终无法理解。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17270" y="1136650"/>
            <a:ext cx="9583420" cy="287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资源教室未按《特殊教育资源教室建设指南》配置器材与规划使用，沦为</a:t>
            </a:r>
            <a:r>
              <a:rPr lang="en-US" altLang="zh-CN" sz="2400"/>
              <a:t> “</a:t>
            </a:r>
            <a:r>
              <a:rPr lang="zh-CN" altLang="en-US" sz="2400"/>
              <a:t>评估场所</a:t>
            </a:r>
            <a:r>
              <a:rPr lang="en-US" altLang="zh-CN" sz="2400"/>
              <a:t>”</a:t>
            </a:r>
            <a:r>
              <a:rPr lang="zh-CN" altLang="en-US" sz="2400"/>
              <a:t>：</a:t>
            </a:r>
            <a:endParaRPr lang="zh-CN" altLang="en-US" sz="2400"/>
          </a:p>
          <a:p>
            <a:r>
              <a:rPr lang="zh-CN" altLang="en-US" sz="2400"/>
              <a:t>康复器材缺失：无</a:t>
            </a:r>
            <a:r>
              <a:rPr lang="en-US" altLang="zh-CN" sz="2400"/>
              <a:t> “</a:t>
            </a:r>
            <a:r>
              <a:rPr lang="zh-CN" altLang="en-US" sz="2400"/>
              <a:t>前庭平衡训练器材（平衡板、旋转盘）</a:t>
            </a:r>
            <a:r>
              <a:rPr lang="en-US" altLang="zh-CN" sz="2400"/>
              <a:t>”“</a:t>
            </a:r>
            <a:r>
              <a:rPr lang="zh-CN" altLang="en-US" sz="2400"/>
              <a:t>本体感训练器材（跳箱、触觉垫）</a:t>
            </a:r>
            <a:r>
              <a:rPr lang="en-US" altLang="zh-CN" sz="2400"/>
              <a:t>”</a:t>
            </a:r>
            <a:r>
              <a:rPr lang="zh-CN" altLang="en-US" sz="2400"/>
              <a:t>，小煦</a:t>
            </a:r>
            <a:r>
              <a:rPr lang="en-US" altLang="zh-CN" sz="2400"/>
              <a:t> “</a:t>
            </a:r>
            <a:r>
              <a:rPr lang="zh-CN" altLang="en-US" sz="2400"/>
              <a:t>脚后跟行走</a:t>
            </a:r>
            <a:r>
              <a:rPr lang="en-US" altLang="zh-CN" sz="2400"/>
              <a:t> 3 </a:t>
            </a:r>
            <a:r>
              <a:rPr lang="zh-CN" altLang="en-US" sz="2400"/>
              <a:t>米、连续后跳</a:t>
            </a:r>
            <a:r>
              <a:rPr lang="en-US" altLang="zh-CN" sz="2400"/>
              <a:t> 10 </a:t>
            </a:r>
            <a:r>
              <a:rPr lang="zh-CN" altLang="en-US" sz="2400"/>
              <a:t>次困难</a:t>
            </a:r>
            <a:r>
              <a:rPr lang="en-US" altLang="zh-CN" sz="2400"/>
              <a:t>” </a:t>
            </a:r>
            <a:r>
              <a:rPr lang="zh-CN" altLang="en-US" sz="2400"/>
              <a:t>的问题无法在校内训练；</a:t>
            </a:r>
            <a:endParaRPr lang="zh-CN" altLang="en-US" sz="2400"/>
          </a:p>
          <a:p>
            <a:r>
              <a:rPr lang="zh-CN" altLang="en-US" sz="2400"/>
              <a:t>学业支持工具不足：无</a:t>
            </a:r>
            <a:r>
              <a:rPr lang="en-US" altLang="zh-CN" sz="2400"/>
              <a:t> “</a:t>
            </a:r>
            <a:r>
              <a:rPr lang="zh-CN" altLang="en-US" sz="2400"/>
              <a:t>拼音磁性教具、笔画分解卡片、数学应用题图示卡</a:t>
            </a:r>
            <a:r>
              <a:rPr lang="en-US" altLang="zh-CN" sz="2400"/>
              <a:t>”</a:t>
            </a:r>
            <a:r>
              <a:rPr lang="zh-CN" altLang="en-US" sz="2400"/>
              <a:t>，小煦</a:t>
            </a:r>
            <a:r>
              <a:rPr lang="en-US" altLang="zh-CN" sz="2400"/>
              <a:t> “</a:t>
            </a:r>
            <a:r>
              <a:rPr lang="zh-CN" altLang="en-US" sz="2400"/>
              <a:t>书写倒笔顺（如</a:t>
            </a:r>
            <a:r>
              <a:rPr lang="en-US" altLang="zh-CN" sz="2400"/>
              <a:t>‘</a:t>
            </a:r>
            <a:r>
              <a:rPr lang="zh-CN" altLang="en-US" sz="2400"/>
              <a:t>出</a:t>
            </a:r>
            <a:r>
              <a:rPr lang="en-US" altLang="zh-CN" sz="2400"/>
              <a:t>’‘</a:t>
            </a:r>
            <a:r>
              <a:rPr lang="zh-CN" altLang="en-US" sz="2400"/>
              <a:t>果</a:t>
            </a:r>
            <a:r>
              <a:rPr lang="en-US" altLang="zh-CN" sz="2400"/>
              <a:t>’‘</a:t>
            </a:r>
            <a:r>
              <a:rPr lang="zh-CN" altLang="en-US" sz="2400"/>
              <a:t>里</a:t>
            </a:r>
            <a:r>
              <a:rPr lang="en-US" altLang="zh-CN" sz="2400"/>
              <a:t>’</a:t>
            </a:r>
            <a:r>
              <a:rPr lang="zh-CN" altLang="en-US" sz="2400"/>
              <a:t>）</a:t>
            </a:r>
            <a:r>
              <a:rPr lang="en-US" altLang="zh-CN" sz="2400"/>
              <a:t>”“</a:t>
            </a:r>
            <a:r>
              <a:rPr lang="zh-CN" altLang="en-US" sz="2400"/>
              <a:t>不理解</a:t>
            </a:r>
            <a:r>
              <a:rPr lang="en-US" altLang="zh-CN" sz="2400"/>
              <a:t>‘</a:t>
            </a:r>
            <a:r>
              <a:rPr lang="zh-CN" altLang="en-US" sz="2400"/>
              <a:t>一共</a:t>
            </a:r>
            <a:r>
              <a:rPr lang="en-US" altLang="zh-CN" sz="2400"/>
              <a:t>’</a:t>
            </a:r>
            <a:r>
              <a:rPr lang="zh-CN" altLang="en-US" sz="2400"/>
              <a:t>等应用题概念</a:t>
            </a:r>
            <a:r>
              <a:rPr lang="en-US" altLang="zh-CN" sz="2400"/>
              <a:t>” </a:t>
            </a:r>
            <a:r>
              <a:rPr lang="zh-CN" altLang="en-US" sz="2400"/>
              <a:t>的学业短板，无法通过资源教室得到辅助，只能依赖母亲课后辅导。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>
                <a:sym typeface="+mn-ea"/>
              </a:rPr>
              <a:t>无专职特教教师：学校未配备专职特教教师，无法为小煦提供个性化的学业与行为支持，仅靠普通教师</a:t>
            </a:r>
            <a:r>
              <a:rPr lang="en-US" altLang="zh-CN" sz="2400">
                <a:sym typeface="+mn-ea"/>
              </a:rPr>
              <a:t> “</a:t>
            </a:r>
            <a:r>
              <a:rPr lang="zh-CN" altLang="en-US" sz="2400">
                <a:sym typeface="+mn-ea"/>
              </a:rPr>
              <a:t>抽空指导</a:t>
            </a:r>
            <a:r>
              <a:rPr lang="en-US" altLang="zh-CN" sz="2400">
                <a:sym typeface="+mn-ea"/>
              </a:rPr>
              <a:t>”</a:t>
            </a:r>
            <a:r>
              <a:rPr lang="zh-CN" altLang="en-US" sz="2400">
                <a:sym typeface="+mn-ea"/>
              </a:rPr>
              <a:t>，支持频率与专业性均不足。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270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课程适配与评价：统一进度掩盖真实需求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68400" y="1930400"/>
            <a:ext cx="1000569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dirty="0"/>
              <a:t>The course and evaluation methods failed to be adjusted in accordance with Xiaoxu's cognitive characteristics, resulting in "difficult teaching - tiring learning - worse performance in exams", and a continuous decline in self-efficacy.</a:t>
            </a:r>
            <a:endParaRPr lang="en-US" altLang="zh-CN" dirty="0"/>
          </a:p>
        </p:txBody>
      </p:sp>
      <p:sp>
        <p:nvSpPr>
          <p:cNvPr id="5" name="Shape 2"/>
          <p:cNvSpPr/>
          <p:nvPr/>
        </p:nvSpPr>
        <p:spPr>
          <a:xfrm>
            <a:off x="2048986" y="2946400"/>
            <a:ext cx="3898900" cy="0"/>
          </a:xfrm>
          <a:prstGeom prst="line">
            <a:avLst/>
          </a:prstGeom>
          <a:noFill/>
          <a:ln w="50800">
            <a:solidFill>
              <a:srgbClr val="DC3545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3589814" y="320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C3545">
              <a:alpha val="20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3808889" y="341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105147"/>
                </a:moveTo>
                <a:lnTo>
                  <a:pt x="190500" y="335310"/>
                </a:lnTo>
                <a:lnTo>
                  <a:pt x="190872" y="335161"/>
                </a:lnTo>
                <a:cubicBezTo>
                  <a:pt x="231502" y="318269"/>
                  <a:pt x="275109" y="309563"/>
                  <a:pt x="319088" y="309563"/>
                </a:cubicBezTo>
                <a:lnTo>
                  <a:pt x="333375" y="309563"/>
                </a:lnTo>
                <a:lnTo>
                  <a:pt x="333375" y="71438"/>
                </a:lnTo>
                <a:lnTo>
                  <a:pt x="319088" y="71438"/>
                </a:lnTo>
                <a:cubicBezTo>
                  <a:pt x="287685" y="71438"/>
                  <a:pt x="256505" y="77688"/>
                  <a:pt x="227484" y="89743"/>
                </a:cubicBezTo>
                <a:cubicBezTo>
                  <a:pt x="214982" y="94952"/>
                  <a:pt x="202629" y="100087"/>
                  <a:pt x="190500" y="105147"/>
                </a:cubicBezTo>
                <a:close/>
                <a:moveTo>
                  <a:pt x="171822" y="45765"/>
                </a:moveTo>
                <a:lnTo>
                  <a:pt x="190500" y="53578"/>
                </a:lnTo>
                <a:lnTo>
                  <a:pt x="209178" y="45765"/>
                </a:lnTo>
                <a:cubicBezTo>
                  <a:pt x="244004" y="31254"/>
                  <a:pt x="281360" y="23812"/>
                  <a:pt x="319088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321469"/>
                </a:lnTo>
                <a:cubicBezTo>
                  <a:pt x="381000" y="341188"/>
                  <a:pt x="365001" y="357188"/>
                  <a:pt x="345281" y="357188"/>
                </a:cubicBezTo>
                <a:lnTo>
                  <a:pt x="319088" y="357188"/>
                </a:lnTo>
                <a:cubicBezTo>
                  <a:pt x="281360" y="357188"/>
                  <a:pt x="244004" y="364629"/>
                  <a:pt x="209178" y="379140"/>
                </a:cubicBezTo>
                <a:lnTo>
                  <a:pt x="199653" y="383084"/>
                </a:lnTo>
                <a:cubicBezTo>
                  <a:pt x="193774" y="385539"/>
                  <a:pt x="187226" y="385539"/>
                  <a:pt x="181347" y="383084"/>
                </a:cubicBezTo>
                <a:lnTo>
                  <a:pt x="171822" y="379140"/>
                </a:lnTo>
                <a:cubicBezTo>
                  <a:pt x="136996" y="364629"/>
                  <a:pt x="99640" y="357188"/>
                  <a:pt x="61913" y="357188"/>
                </a:cubicBezTo>
                <a:lnTo>
                  <a:pt x="35719" y="357188"/>
                </a:lnTo>
                <a:cubicBezTo>
                  <a:pt x="15999" y="357188"/>
                  <a:pt x="0" y="341188"/>
                  <a:pt x="0" y="321469"/>
                </a:cubicBezTo>
                <a:lnTo>
                  <a:pt x="0" y="59531"/>
                </a:lnTo>
                <a:cubicBezTo>
                  <a:pt x="0" y="39812"/>
                  <a:pt x="15999" y="23812"/>
                  <a:pt x="35719" y="23812"/>
                </a:cubicBezTo>
                <a:lnTo>
                  <a:pt x="61913" y="23812"/>
                </a:lnTo>
                <a:cubicBezTo>
                  <a:pt x="99640" y="23812"/>
                  <a:pt x="136996" y="31254"/>
                  <a:pt x="171822" y="45765"/>
                </a:cubicBezTo>
                <a:close/>
              </a:path>
            </a:pathLst>
          </a:custGeom>
          <a:solidFill>
            <a:srgbClr val="DC3545"/>
          </a:solidFill>
        </p:spPr>
      </p:sp>
      <p:sp>
        <p:nvSpPr>
          <p:cNvPr id="8" name="Text 5"/>
          <p:cNvSpPr/>
          <p:nvPr/>
        </p:nvSpPr>
        <p:spPr>
          <a:xfrm>
            <a:off x="2195036" y="4165600"/>
            <a:ext cx="360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课程适配性不足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07736" y="4622800"/>
            <a:ext cx="35814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语文拼音、数学应用题仍按统一进度教学，未针对其视觉记忆薄弱、顺序概念混乱进行多感官、具象化设计。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48400" y="3073400"/>
            <a:ext cx="3898900" cy="0"/>
          </a:xfrm>
          <a:prstGeom prst="line">
            <a:avLst/>
          </a:prstGeom>
          <a:noFill/>
          <a:ln w="50800">
            <a:solidFill>
              <a:srgbClr val="DC3545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7789228" y="3327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C3545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8055928" y="35433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31725" y="23812"/>
                </a:moveTo>
                <a:lnTo>
                  <a:pt x="238125" y="23812"/>
                </a:lnTo>
                <a:cubicBezTo>
                  <a:pt x="264393" y="23812"/>
                  <a:pt x="285750" y="45169"/>
                  <a:pt x="285750" y="71438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71438"/>
                </a:lnTo>
                <a:cubicBezTo>
                  <a:pt x="0" y="45169"/>
                  <a:pt x="21357" y="23812"/>
                  <a:pt x="47625" y="23812"/>
                </a:cubicBezTo>
                <a:lnTo>
                  <a:pt x="54025" y="23812"/>
                </a:lnTo>
                <a:cubicBezTo>
                  <a:pt x="62210" y="9599"/>
                  <a:pt x="77614" y="0"/>
                  <a:pt x="95250" y="0"/>
                </a:cubicBezTo>
                <a:lnTo>
                  <a:pt x="190500" y="0"/>
                </a:lnTo>
                <a:cubicBezTo>
                  <a:pt x="208136" y="0"/>
                  <a:pt x="223540" y="9599"/>
                  <a:pt x="231725" y="23812"/>
                </a:cubicBezTo>
                <a:close/>
                <a:moveTo>
                  <a:pt x="184547" y="83344"/>
                </a:moveTo>
                <a:cubicBezTo>
                  <a:pt x="194444" y="83344"/>
                  <a:pt x="202406" y="75381"/>
                  <a:pt x="202406" y="65484"/>
                </a:cubicBezTo>
                <a:cubicBezTo>
                  <a:pt x="202406" y="55587"/>
                  <a:pt x="194444" y="47625"/>
                  <a:pt x="184547" y="47625"/>
                </a:cubicBezTo>
                <a:lnTo>
                  <a:pt x="101203" y="47625"/>
                </a:lnTo>
                <a:cubicBezTo>
                  <a:pt x="91306" y="47625"/>
                  <a:pt x="83344" y="55587"/>
                  <a:pt x="83344" y="65484"/>
                </a:cubicBezTo>
                <a:cubicBezTo>
                  <a:pt x="83344" y="75381"/>
                  <a:pt x="91306" y="83344"/>
                  <a:pt x="101203" y="83344"/>
                </a:cubicBezTo>
                <a:lnTo>
                  <a:pt x="184547" y="83344"/>
                </a:lnTo>
                <a:close/>
                <a:moveTo>
                  <a:pt x="205680" y="193997"/>
                </a:moveTo>
                <a:cubicBezTo>
                  <a:pt x="210889" y="185663"/>
                  <a:pt x="208359" y="174650"/>
                  <a:pt x="200025" y="169366"/>
                </a:cubicBezTo>
                <a:cubicBezTo>
                  <a:pt x="191691" y="164083"/>
                  <a:pt x="180677" y="166688"/>
                  <a:pt x="175394" y="175022"/>
                </a:cubicBezTo>
                <a:lnTo>
                  <a:pt x="129704" y="248171"/>
                </a:lnTo>
                <a:lnTo>
                  <a:pt x="109612" y="221382"/>
                </a:lnTo>
                <a:cubicBezTo>
                  <a:pt x="103659" y="213494"/>
                  <a:pt x="92497" y="211857"/>
                  <a:pt x="84609" y="217810"/>
                </a:cubicBezTo>
                <a:cubicBezTo>
                  <a:pt x="76721" y="223763"/>
                  <a:pt x="75084" y="234925"/>
                  <a:pt x="81037" y="242813"/>
                </a:cubicBezTo>
                <a:lnTo>
                  <a:pt x="116756" y="290438"/>
                </a:lnTo>
                <a:cubicBezTo>
                  <a:pt x="120253" y="295126"/>
                  <a:pt x="125909" y="297805"/>
                  <a:pt x="131787" y="297582"/>
                </a:cubicBezTo>
                <a:cubicBezTo>
                  <a:pt x="137666" y="297359"/>
                  <a:pt x="143024" y="294233"/>
                  <a:pt x="146149" y="289173"/>
                </a:cubicBezTo>
                <a:lnTo>
                  <a:pt x="205680" y="193923"/>
                </a:lnTo>
                <a:close/>
              </a:path>
            </a:pathLst>
          </a:custGeom>
          <a:solidFill>
            <a:srgbClr val="DC3545"/>
          </a:solidFill>
        </p:spPr>
      </p:sp>
      <p:sp>
        <p:nvSpPr>
          <p:cNvPr id="13" name="Text 10"/>
          <p:cNvSpPr/>
          <p:nvPr/>
        </p:nvSpPr>
        <p:spPr>
          <a:xfrm>
            <a:off x="6394450" y="4292600"/>
            <a:ext cx="360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教学评价单一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7150" y="4749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仍以纸笔测试为主，忽视过程性评价，其努力和微小进步无法被看见，影响学习动机。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05155"/>
            <a:ext cx="705294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同伴与社会：误解、排斥与污名化风险</a:t>
            </a:r>
            <a:endParaRPr lang="en-US" sz="3000" b="1" dirty="0">
              <a:solidFill>
                <a:srgbClr val="007B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/>
              <a:t>Peers and Society: Risks of misunderstanding, Exclusion and stigmatization</a:t>
            </a:r>
            <a:endParaRPr lang="en-US" altLang="zh-CN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209800"/>
            <a:ext cx="83159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文化认知与支持资源的双重缺失，进一步压缩了小煦的社交空间与家庭韧性。</a:t>
            </a:r>
            <a:endParaRPr lang="en-US" sz="16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/>
              <a:t>The dual lack of cultural awareness and support resources has further compressed Xiaoxu's social space and family resilience.</a:t>
            </a:r>
            <a:endParaRPr lang="en-US" altLang="zh-CN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3124200"/>
            <a:ext cx="5435600" cy="1219200"/>
          </a:xfrm>
          <a:custGeom>
            <a:avLst/>
            <a:gdLst/>
            <a:ahLst/>
            <a:cxnLst/>
            <a:rect l="l" t="t" r="r" b="b"/>
            <a:pathLst>
              <a:path w="5435600" h="12192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117604"/>
                </a:lnTo>
                <a:cubicBezTo>
                  <a:pt x="5435600" y="1173714"/>
                  <a:pt x="5390114" y="1219200"/>
                  <a:pt x="5334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457200" y="33274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同伴支持不足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57200" y="3632200"/>
            <a:ext cx="511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同学缺乏认知教育，易误解其特殊行为；无结构化社交支持，社交技能训练空白。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254000" y="4546600"/>
            <a:ext cx="5435600" cy="1219200"/>
          </a:xfrm>
          <a:custGeom>
            <a:avLst/>
            <a:gdLst/>
            <a:ahLst/>
            <a:cxnLst/>
            <a:rect l="l" t="t" r="r" b="b"/>
            <a:pathLst>
              <a:path w="5435600" h="12192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117604"/>
                </a:lnTo>
                <a:cubicBezTo>
                  <a:pt x="5435600" y="1173714"/>
                  <a:pt x="5390114" y="1219200"/>
                  <a:pt x="5334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457200" y="47498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社会文化困境</a:t>
            </a: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457200" y="5054600"/>
            <a:ext cx="511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社会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群体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对ADHD认知存在污名化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，认为是教养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</a:t>
            </a:r>
            <a:endParaRPr lang="zh-CN" altLang="en-US" sz="1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1" name="Image 1" descr="https://kimi-web-img.moonshot.cn/img/www.thoughtco.com/0296f51b6bdf5511c06400c7604a4d1b199de4c3.jpg"/>
          <p:cNvPicPr>
            <a:picLocks noChangeAspect="1"/>
          </p:cNvPicPr>
          <p:nvPr/>
        </p:nvPicPr>
        <p:blipFill>
          <a:blip r:embed="rId8"/>
          <a:srcRect l="19326" r="19326"/>
          <a:stretch>
            <a:fillRect/>
          </a:stretch>
        </p:blipFill>
        <p:spPr>
          <a:xfrm>
            <a:off x="8601710" y="2668905"/>
            <a:ext cx="3061335" cy="3327400"/>
          </a:xfrm>
          <a:prstGeom prst="roundRect">
            <a:avLst>
              <a:gd name="adj" fmla="val 2609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4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25215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立法与工具：底线与杠杆</a:t>
            </a:r>
            <a:endParaRPr lang="en-US" sz="3400" dirty="0">
              <a:solidFill>
                <a:srgbClr val="0D0D0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400" dirty="0"/>
              <a:t>Legislation and Tools: Bottom Line and Leverage</a:t>
            </a:r>
            <a:endParaRPr lang="en-US" altLang="zh-CN" sz="24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53100" y="1244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01930" y="182642"/>
                </a:moveTo>
                <a:lnTo>
                  <a:pt x="179665" y="160377"/>
                </a:lnTo>
                <a:cubicBezTo>
                  <a:pt x="164783" y="145494"/>
                  <a:pt x="164783" y="121325"/>
                  <a:pt x="179665" y="106442"/>
                </a:cubicBezTo>
                <a:lnTo>
                  <a:pt x="316230" y="-30242"/>
                </a:lnTo>
                <a:cubicBezTo>
                  <a:pt x="331113" y="-45125"/>
                  <a:pt x="355283" y="-45125"/>
                  <a:pt x="370165" y="-30242"/>
                </a:cubicBezTo>
                <a:lnTo>
                  <a:pt x="392430" y="-7858"/>
                </a:lnTo>
                <a:cubicBezTo>
                  <a:pt x="407313" y="7025"/>
                  <a:pt x="407313" y="31194"/>
                  <a:pt x="392430" y="46077"/>
                </a:cubicBezTo>
                <a:lnTo>
                  <a:pt x="255865" y="182642"/>
                </a:lnTo>
                <a:cubicBezTo>
                  <a:pt x="240983" y="197525"/>
                  <a:pt x="216813" y="197525"/>
                  <a:pt x="201930" y="182642"/>
                </a:cubicBezTo>
                <a:close/>
                <a:moveTo>
                  <a:pt x="328613" y="252055"/>
                </a:moveTo>
                <a:lnTo>
                  <a:pt x="291227" y="214670"/>
                </a:lnTo>
                <a:lnTo>
                  <a:pt x="424577" y="81320"/>
                </a:lnTo>
                <a:lnTo>
                  <a:pt x="566738" y="223480"/>
                </a:lnTo>
                <a:lnTo>
                  <a:pt x="433388" y="356830"/>
                </a:lnTo>
                <a:lnTo>
                  <a:pt x="396002" y="319445"/>
                </a:lnTo>
                <a:lnTo>
                  <a:pt x="119777" y="595670"/>
                </a:lnTo>
                <a:cubicBezTo>
                  <a:pt x="101203" y="614243"/>
                  <a:pt x="71080" y="614243"/>
                  <a:pt x="52388" y="595670"/>
                </a:cubicBezTo>
                <a:cubicBezTo>
                  <a:pt x="33695" y="577096"/>
                  <a:pt x="33814" y="546973"/>
                  <a:pt x="52388" y="528280"/>
                </a:cubicBezTo>
                <a:lnTo>
                  <a:pt x="328613" y="252055"/>
                </a:lnTo>
                <a:close/>
                <a:moveTo>
                  <a:pt x="465415" y="446008"/>
                </a:moveTo>
                <a:cubicBezTo>
                  <a:pt x="450533" y="431125"/>
                  <a:pt x="450533" y="406956"/>
                  <a:pt x="465415" y="392073"/>
                </a:cubicBezTo>
                <a:lnTo>
                  <a:pt x="601980" y="255508"/>
                </a:lnTo>
                <a:cubicBezTo>
                  <a:pt x="616863" y="240625"/>
                  <a:pt x="641033" y="240625"/>
                  <a:pt x="655915" y="255508"/>
                </a:cubicBezTo>
                <a:lnTo>
                  <a:pt x="678180" y="277773"/>
                </a:lnTo>
                <a:cubicBezTo>
                  <a:pt x="693063" y="292656"/>
                  <a:pt x="693063" y="316825"/>
                  <a:pt x="678180" y="331708"/>
                </a:cubicBezTo>
                <a:lnTo>
                  <a:pt x="541615" y="468392"/>
                </a:lnTo>
                <a:cubicBezTo>
                  <a:pt x="526732" y="483275"/>
                  <a:pt x="502563" y="483275"/>
                  <a:pt x="487680" y="468392"/>
                </a:cubicBezTo>
                <a:lnTo>
                  <a:pt x="465415" y="446127"/>
                </a:lnTo>
                <a:close/>
              </a:path>
            </a:pathLst>
          </a:custGeom>
          <a:solidFill>
            <a:srgbClr val="007BFF"/>
          </a:solidFill>
        </p:spPr>
      </p:sp>
      <p:sp>
        <p:nvSpPr>
          <p:cNvPr id="4" name="Text 1"/>
          <p:cNvSpPr/>
          <p:nvPr/>
        </p:nvSpPr>
        <p:spPr>
          <a:xfrm>
            <a:off x="2931319" y="2061210"/>
            <a:ext cx="6515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法规红线：校内康复与IEP是强制要求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19200" y="2921000"/>
            <a:ext cx="9753600" cy="2794000"/>
          </a:xfrm>
          <a:custGeom>
            <a:avLst/>
            <a:gdLst/>
            <a:ahLst/>
            <a:cxnLst/>
            <a:rect l="l" t="t" r="r" b="b"/>
            <a:pathLst>
              <a:path w="9753600" h="2794000">
                <a:moveTo>
                  <a:pt x="101590" y="0"/>
                </a:moveTo>
                <a:lnTo>
                  <a:pt x="9652010" y="0"/>
                </a:lnTo>
                <a:cubicBezTo>
                  <a:pt x="9708117" y="0"/>
                  <a:pt x="9753600" y="45483"/>
                  <a:pt x="9753600" y="101590"/>
                </a:cubicBezTo>
                <a:lnTo>
                  <a:pt x="9753600" y="2692410"/>
                </a:lnTo>
                <a:cubicBezTo>
                  <a:pt x="9753600" y="2748517"/>
                  <a:pt x="9708117" y="2794000"/>
                  <a:pt x="96520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22400" y="2973705"/>
            <a:ext cx="924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《残疾人保障法》、《义务教育法》及《残疾人教育条例》明确规定：</a:t>
            </a:r>
            <a:endParaRPr lang="en-US" sz="16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algn="l">
              <a:lnSpc>
                <a:spcPct val="130000"/>
              </a:lnSpc>
            </a:pPr>
            <a:r>
              <a:rPr lang="en-US" altLang="zh-CN" sz="1600" dirty="0"/>
              <a:t>The Law on the Protection of Persons with Disabilities, the Compulsory Education Law and the Regulations on Education for Persons with Disabilities clearly stipulate:</a:t>
            </a:r>
            <a:endParaRPr lang="en-US" altLang="zh-CN" sz="1600" dirty="0"/>
          </a:p>
        </p:txBody>
      </p:sp>
      <p:sp>
        <p:nvSpPr>
          <p:cNvPr id="7" name="Shape 4"/>
          <p:cNvSpPr/>
          <p:nvPr/>
        </p:nvSpPr>
        <p:spPr>
          <a:xfrm>
            <a:off x="1524000" y="3733800"/>
            <a:ext cx="4470400" cy="1168400"/>
          </a:xfrm>
          <a:custGeom>
            <a:avLst/>
            <a:gdLst/>
            <a:ahLst/>
            <a:cxnLst/>
            <a:rect l="l" t="t" r="r" b="b"/>
            <a:pathLst>
              <a:path w="4470400" h="1168400">
                <a:moveTo>
                  <a:pt x="76203" y="0"/>
                </a:moveTo>
                <a:lnTo>
                  <a:pt x="4394197" y="0"/>
                </a:lnTo>
                <a:cubicBezTo>
                  <a:pt x="4436283" y="0"/>
                  <a:pt x="4470400" y="34117"/>
                  <a:pt x="4470400" y="76203"/>
                </a:cubicBezTo>
                <a:lnTo>
                  <a:pt x="4470400" y="1092197"/>
                </a:lnTo>
                <a:cubicBezTo>
                  <a:pt x="4470400" y="1134283"/>
                  <a:pt x="4436283" y="1168400"/>
                  <a:pt x="4394197" y="1168400"/>
                </a:cubicBezTo>
                <a:lnTo>
                  <a:pt x="76203" y="1168400"/>
                </a:lnTo>
                <a:cubicBezTo>
                  <a:pt x="34117" y="1168400"/>
                  <a:pt x="0" y="1134283"/>
                  <a:pt x="0" y="10921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727200" y="3937000"/>
            <a:ext cx="415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普通学校义务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27200" y="4191000"/>
            <a:ext cx="415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必须为具备随班就读能力的残障学生提供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“学习—康复”一体化支持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97600" y="3733800"/>
            <a:ext cx="4470400" cy="1168400"/>
          </a:xfrm>
          <a:custGeom>
            <a:avLst/>
            <a:gdLst/>
            <a:ahLst/>
            <a:cxnLst/>
            <a:rect l="l" t="t" r="r" b="b"/>
            <a:pathLst>
              <a:path w="4470400" h="1168400">
                <a:moveTo>
                  <a:pt x="76203" y="0"/>
                </a:moveTo>
                <a:lnTo>
                  <a:pt x="4394197" y="0"/>
                </a:lnTo>
                <a:cubicBezTo>
                  <a:pt x="4436283" y="0"/>
                  <a:pt x="4470400" y="34117"/>
                  <a:pt x="4470400" y="76203"/>
                </a:cubicBezTo>
                <a:lnTo>
                  <a:pt x="4470400" y="1092197"/>
                </a:lnTo>
                <a:cubicBezTo>
                  <a:pt x="4470400" y="1134283"/>
                  <a:pt x="4436283" y="1168400"/>
                  <a:pt x="4394197" y="1168400"/>
                </a:cubicBezTo>
                <a:lnTo>
                  <a:pt x="76203" y="1168400"/>
                </a:lnTo>
                <a:cubicBezTo>
                  <a:pt x="34117" y="1168400"/>
                  <a:pt x="0" y="1134283"/>
                  <a:pt x="0" y="10921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3937000"/>
            <a:ext cx="415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IEP是强制规定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4191000"/>
            <a:ext cx="415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必须制定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个别化教育计划(IEP)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，明确目标与支持策略。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73200" y="5105400"/>
            <a:ext cx="924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DC354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现状与法规存在显著差距，亟需依法改进。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List of assistive technologies: From attention to fine motor skills</a:t>
            </a:r>
            <a:endParaRPr lang="en-US" altLang="zh-CN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3695700" cy="5588000"/>
          </a:xfrm>
          <a:custGeom>
            <a:avLst/>
            <a:gdLst/>
            <a:ahLst/>
            <a:cxnLst/>
            <a:rect l="l" t="t" r="r" b="b"/>
            <a:pathLst>
              <a:path w="3695700" h="55880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5486405"/>
                </a:lnTo>
                <a:cubicBezTo>
                  <a:pt x="3695700" y="5542514"/>
                  <a:pt x="3650214" y="5588000"/>
                  <a:pt x="3594105" y="5588000"/>
                </a:cubicBezTo>
                <a:lnTo>
                  <a:pt x="101595" y="5588000"/>
                </a:lnTo>
                <a:cubicBezTo>
                  <a:pt x="45486" y="5588000"/>
                  <a:pt x="0" y="5542514"/>
                  <a:pt x="0" y="548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406400" y="1219200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ADHD 支持类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6764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注意力训练APP (番茄钟)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0320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视觉提示工具 (彩色日程表)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3876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降噪耳机 (减少刺激)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正面强化工具 (积分奖励表)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50214" y="1016000"/>
            <a:ext cx="3695700" cy="5588000"/>
          </a:xfrm>
          <a:custGeom>
            <a:avLst/>
            <a:gdLst/>
            <a:ahLst/>
            <a:cxnLst/>
            <a:rect l="l" t="t" r="r" b="b"/>
            <a:pathLst>
              <a:path w="3695700" h="55880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5486405"/>
                </a:lnTo>
                <a:cubicBezTo>
                  <a:pt x="3695700" y="5542514"/>
                  <a:pt x="3650214" y="5588000"/>
                  <a:pt x="3594105" y="5588000"/>
                </a:cubicBezTo>
                <a:lnTo>
                  <a:pt x="101595" y="5588000"/>
                </a:lnTo>
                <a:cubicBezTo>
                  <a:pt x="45486" y="5588000"/>
                  <a:pt x="0" y="5542514"/>
                  <a:pt x="0" y="548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4402614" y="1219200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感统训练类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53414" y="16764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平衡板 (改善前庭平衡)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53414" y="20320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触觉垫 (缓解触觉防御)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53414" y="23876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握笔器 (矫正书写姿势)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53414" y="27432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剪纸模板 (辅助精细动作)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46428" y="1016000"/>
            <a:ext cx="3695700" cy="5588000"/>
          </a:xfrm>
          <a:custGeom>
            <a:avLst/>
            <a:gdLst/>
            <a:ahLst/>
            <a:cxnLst/>
            <a:rect l="l" t="t" r="r" b="b"/>
            <a:pathLst>
              <a:path w="3695700" h="5588000">
                <a:moveTo>
                  <a:pt x="101595" y="0"/>
                </a:moveTo>
                <a:lnTo>
                  <a:pt x="3594105" y="0"/>
                </a:lnTo>
                <a:cubicBezTo>
                  <a:pt x="3650214" y="0"/>
                  <a:pt x="3695700" y="45486"/>
                  <a:pt x="3695700" y="101595"/>
                </a:cubicBezTo>
                <a:lnTo>
                  <a:pt x="3695700" y="5486405"/>
                </a:lnTo>
                <a:cubicBezTo>
                  <a:pt x="3695700" y="5542514"/>
                  <a:pt x="3650214" y="5588000"/>
                  <a:pt x="3594105" y="5588000"/>
                </a:cubicBezTo>
                <a:lnTo>
                  <a:pt x="101595" y="5588000"/>
                </a:lnTo>
                <a:cubicBezTo>
                  <a:pt x="45486" y="5588000"/>
                  <a:pt x="0" y="5542514"/>
                  <a:pt x="0" y="548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8398828" y="1219200"/>
            <a:ext cx="339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学业支持类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49628" y="16764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拼音学习卡片 (图文结合)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49628" y="20320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笔画部首磁性教具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49628" y="2387600"/>
            <a:ext cx="337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应用题具象化图示卡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4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2607310" y="3643630"/>
            <a:ext cx="700595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系统突围：三维度协同</a:t>
            </a:r>
            <a:endParaRPr lang="en-US" sz="3400" dirty="0">
              <a:solidFill>
                <a:srgbClr val="0D0D0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400" dirty="0"/>
              <a:t>System Breakthrough: Three-dimensional Collaboration</a:t>
            </a:r>
            <a:endParaRPr lang="en-US" altLang="zh-CN" sz="24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8265" y="-635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50" y="1193800"/>
            <a:ext cx="931227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School Action 1</a:t>
            </a:r>
            <a:endParaRPr lang="en-US" altLang="zh-CN" sz="3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637540" y="1851025"/>
            <a:ext cx="553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0035" y="3022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0056B3"/>
          </a:solidFill>
        </p:spPr>
      </p:sp>
      <p:sp>
        <p:nvSpPr>
          <p:cNvPr id="6" name="Text 3"/>
          <p:cNvSpPr/>
          <p:nvPr/>
        </p:nvSpPr>
        <p:spPr>
          <a:xfrm>
            <a:off x="839470" y="30226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组建四方IEP团队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9470" y="3327400"/>
            <a:ext cx="4940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普教、特教、康复、家长共同参与，设定可测量目标，每季度评估调整。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975" y="4038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76200" y="57150"/>
                </a:moveTo>
                <a:cubicBezTo>
                  <a:pt x="76200" y="36135"/>
                  <a:pt x="93285" y="19050"/>
                  <a:pt x="114300" y="19050"/>
                </a:cubicBezTo>
                <a:lnTo>
                  <a:pt x="323850" y="19050"/>
                </a:lnTo>
                <a:cubicBezTo>
                  <a:pt x="344865" y="19050"/>
                  <a:pt x="361950" y="36135"/>
                  <a:pt x="361950" y="57150"/>
                </a:cubicBezTo>
                <a:lnTo>
                  <a:pt x="361950" y="200025"/>
                </a:lnTo>
                <a:lnTo>
                  <a:pt x="304800" y="200025"/>
                </a:lnTo>
                <a:lnTo>
                  <a:pt x="304800" y="190500"/>
                </a:lnTo>
                <a:cubicBezTo>
                  <a:pt x="304800" y="179963"/>
                  <a:pt x="296287" y="171450"/>
                  <a:pt x="285750" y="171450"/>
                </a:cubicBezTo>
                <a:lnTo>
                  <a:pt x="247650" y="171450"/>
                </a:lnTo>
                <a:cubicBezTo>
                  <a:pt x="237113" y="171450"/>
                  <a:pt x="228600" y="179963"/>
                  <a:pt x="228600" y="190500"/>
                </a:cubicBezTo>
                <a:lnTo>
                  <a:pt x="228600" y="200025"/>
                </a:lnTo>
                <a:lnTo>
                  <a:pt x="151745" y="200025"/>
                </a:lnTo>
                <a:cubicBezTo>
                  <a:pt x="158234" y="188833"/>
                  <a:pt x="161925" y="175796"/>
                  <a:pt x="161925" y="161925"/>
                </a:cubicBezTo>
                <a:cubicBezTo>
                  <a:pt x="161925" y="119836"/>
                  <a:pt x="127814" y="85725"/>
                  <a:pt x="85725" y="85725"/>
                </a:cubicBezTo>
                <a:cubicBezTo>
                  <a:pt x="82510" y="85725"/>
                  <a:pt x="79296" y="85904"/>
                  <a:pt x="76200" y="86320"/>
                </a:cubicBezTo>
                <a:lnTo>
                  <a:pt x="76200" y="57150"/>
                </a:lnTo>
                <a:close/>
                <a:moveTo>
                  <a:pt x="198239" y="266700"/>
                </a:moveTo>
                <a:cubicBezTo>
                  <a:pt x="195203" y="252293"/>
                  <a:pt x="188535" y="239256"/>
                  <a:pt x="179130" y="228600"/>
                </a:cubicBezTo>
                <a:lnTo>
                  <a:pt x="361950" y="228600"/>
                </a:lnTo>
                <a:cubicBezTo>
                  <a:pt x="361950" y="249615"/>
                  <a:pt x="344865" y="266700"/>
                  <a:pt x="323850" y="266700"/>
                </a:cubicBezTo>
                <a:lnTo>
                  <a:pt x="198239" y="266700"/>
                </a:lnTo>
                <a:close/>
                <a:moveTo>
                  <a:pt x="38100" y="161925"/>
                </a:moveTo>
                <a:cubicBezTo>
                  <a:pt x="38100" y="135640"/>
                  <a:pt x="59440" y="114300"/>
                  <a:pt x="85725" y="114300"/>
                </a:cubicBezTo>
                <a:cubicBezTo>
                  <a:pt x="112010" y="114300"/>
                  <a:pt x="133350" y="135640"/>
                  <a:pt x="133350" y="161925"/>
                </a:cubicBezTo>
                <a:cubicBezTo>
                  <a:pt x="133350" y="188210"/>
                  <a:pt x="112010" y="209550"/>
                  <a:pt x="85725" y="209550"/>
                </a:cubicBezTo>
                <a:cubicBezTo>
                  <a:pt x="59440" y="209550"/>
                  <a:pt x="38100" y="188210"/>
                  <a:pt x="38100" y="161925"/>
                </a:cubicBezTo>
                <a:close/>
                <a:moveTo>
                  <a:pt x="0" y="285750"/>
                </a:moveTo>
                <a:cubicBezTo>
                  <a:pt x="0" y="254198"/>
                  <a:pt x="25598" y="228600"/>
                  <a:pt x="57150" y="228600"/>
                </a:cubicBezTo>
                <a:lnTo>
                  <a:pt x="114300" y="228600"/>
                </a:lnTo>
                <a:cubicBezTo>
                  <a:pt x="145852" y="228600"/>
                  <a:pt x="171450" y="254198"/>
                  <a:pt x="171450" y="285750"/>
                </a:cubicBezTo>
                <a:cubicBezTo>
                  <a:pt x="171450" y="296287"/>
                  <a:pt x="162937" y="304800"/>
                  <a:pt x="152400" y="304800"/>
                </a:cubicBezTo>
                <a:lnTo>
                  <a:pt x="19050" y="304800"/>
                </a:lnTo>
                <a:cubicBezTo>
                  <a:pt x="8513" y="304800"/>
                  <a:pt x="0" y="296287"/>
                  <a:pt x="0" y="285750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9" name="Text 6"/>
          <p:cNvSpPr/>
          <p:nvPr/>
        </p:nvSpPr>
        <p:spPr>
          <a:xfrm>
            <a:off x="895509" y="4038600"/>
            <a:ext cx="4889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加强师资专业发展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5509" y="4343400"/>
            <a:ext cx="4876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组织专项培训，邀请康复治疗师进校示范，提升教师实操能力。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4323" y="5054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114300"/>
                </a:moveTo>
                <a:cubicBezTo>
                  <a:pt x="0" y="93285"/>
                  <a:pt x="17085" y="76200"/>
                  <a:pt x="38100" y="76200"/>
                </a:cubicBezTo>
                <a:lnTo>
                  <a:pt x="76200" y="76200"/>
                </a:lnTo>
                <a:lnTo>
                  <a:pt x="152340" y="7680"/>
                </a:lnTo>
                <a:cubicBezTo>
                  <a:pt x="163235" y="-2084"/>
                  <a:pt x="179725" y="-2084"/>
                  <a:pt x="190560" y="7680"/>
                </a:cubicBezTo>
                <a:lnTo>
                  <a:pt x="266700" y="76200"/>
                </a:lnTo>
                <a:lnTo>
                  <a:pt x="304800" y="76200"/>
                </a:lnTo>
                <a:cubicBezTo>
                  <a:pt x="325815" y="76200"/>
                  <a:pt x="342900" y="93285"/>
                  <a:pt x="342900" y="114300"/>
                </a:cubicBezTo>
                <a:lnTo>
                  <a:pt x="342900" y="266700"/>
                </a:lnTo>
                <a:cubicBezTo>
                  <a:pt x="342900" y="287715"/>
                  <a:pt x="325815" y="304800"/>
                  <a:pt x="3048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14300"/>
                </a:lnTo>
                <a:close/>
                <a:moveTo>
                  <a:pt x="133350" y="223838"/>
                </a:moveTo>
                <a:lnTo>
                  <a:pt x="133350" y="276225"/>
                </a:lnTo>
                <a:lnTo>
                  <a:pt x="209550" y="276225"/>
                </a:lnTo>
                <a:lnTo>
                  <a:pt x="209550" y="223838"/>
                </a:lnTo>
                <a:cubicBezTo>
                  <a:pt x="209550" y="210681"/>
                  <a:pt x="198894" y="200025"/>
                  <a:pt x="185738" y="200025"/>
                </a:cubicBezTo>
                <a:lnTo>
                  <a:pt x="157163" y="200025"/>
                </a:lnTo>
                <a:cubicBezTo>
                  <a:pt x="144006" y="200025"/>
                  <a:pt x="133350" y="210681"/>
                  <a:pt x="133350" y="223838"/>
                </a:cubicBezTo>
                <a:close/>
                <a:moveTo>
                  <a:pt x="66675" y="228600"/>
                </a:moveTo>
                <a:cubicBezTo>
                  <a:pt x="71914" y="228600"/>
                  <a:pt x="76200" y="224314"/>
                  <a:pt x="76200" y="219075"/>
                </a:cubicBezTo>
                <a:lnTo>
                  <a:pt x="76200" y="200025"/>
                </a:lnTo>
                <a:cubicBezTo>
                  <a:pt x="76200" y="194786"/>
                  <a:pt x="71914" y="190500"/>
                  <a:pt x="66675" y="190500"/>
                </a:cubicBezTo>
                <a:lnTo>
                  <a:pt x="47625" y="190500"/>
                </a:lnTo>
                <a:cubicBezTo>
                  <a:pt x="42386" y="190500"/>
                  <a:pt x="38100" y="194786"/>
                  <a:pt x="38100" y="200025"/>
                </a:cubicBezTo>
                <a:lnTo>
                  <a:pt x="38100" y="219075"/>
                </a:lnTo>
                <a:cubicBezTo>
                  <a:pt x="38100" y="224314"/>
                  <a:pt x="42386" y="228600"/>
                  <a:pt x="47625" y="228600"/>
                </a:cubicBezTo>
                <a:lnTo>
                  <a:pt x="66675" y="228600"/>
                </a:lnTo>
                <a:close/>
                <a:moveTo>
                  <a:pt x="76200" y="142875"/>
                </a:moveTo>
                <a:lnTo>
                  <a:pt x="76200" y="123825"/>
                </a:lnTo>
                <a:cubicBezTo>
                  <a:pt x="76200" y="118586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8586"/>
                  <a:pt x="38100" y="123825"/>
                </a:cubicBezTo>
                <a:lnTo>
                  <a:pt x="38100" y="142875"/>
                </a:lnTo>
                <a:cubicBezTo>
                  <a:pt x="38100" y="148114"/>
                  <a:pt x="42386" y="152400"/>
                  <a:pt x="47625" y="152400"/>
                </a:cubicBezTo>
                <a:lnTo>
                  <a:pt x="66675" y="152400"/>
                </a:lnTo>
                <a:cubicBezTo>
                  <a:pt x="71914" y="152400"/>
                  <a:pt x="76200" y="148114"/>
                  <a:pt x="76200" y="142875"/>
                </a:cubicBezTo>
                <a:close/>
                <a:moveTo>
                  <a:pt x="295275" y="228600"/>
                </a:moveTo>
                <a:cubicBezTo>
                  <a:pt x="300514" y="228600"/>
                  <a:pt x="304800" y="224314"/>
                  <a:pt x="304800" y="219075"/>
                </a:cubicBezTo>
                <a:lnTo>
                  <a:pt x="304800" y="200025"/>
                </a:lnTo>
                <a:cubicBezTo>
                  <a:pt x="304800" y="194786"/>
                  <a:pt x="300514" y="190500"/>
                  <a:pt x="295275" y="190500"/>
                </a:cubicBezTo>
                <a:lnTo>
                  <a:pt x="276225" y="190500"/>
                </a:lnTo>
                <a:cubicBezTo>
                  <a:pt x="270986" y="190500"/>
                  <a:pt x="266700" y="194786"/>
                  <a:pt x="266700" y="200025"/>
                </a:cubicBezTo>
                <a:lnTo>
                  <a:pt x="266700" y="219075"/>
                </a:lnTo>
                <a:cubicBezTo>
                  <a:pt x="266700" y="224314"/>
                  <a:pt x="270986" y="228600"/>
                  <a:pt x="276225" y="228600"/>
                </a:cubicBezTo>
                <a:lnTo>
                  <a:pt x="295275" y="228600"/>
                </a:lnTo>
                <a:close/>
                <a:moveTo>
                  <a:pt x="304800" y="142875"/>
                </a:moveTo>
                <a:lnTo>
                  <a:pt x="304800" y="123825"/>
                </a:lnTo>
                <a:cubicBezTo>
                  <a:pt x="304800" y="118586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8586"/>
                  <a:pt x="266700" y="123825"/>
                </a:cubicBezTo>
                <a:lnTo>
                  <a:pt x="266700" y="142875"/>
                </a:lnTo>
                <a:cubicBezTo>
                  <a:pt x="266700" y="148114"/>
                  <a:pt x="270986" y="152400"/>
                  <a:pt x="276225" y="152400"/>
                </a:cubicBezTo>
                <a:lnTo>
                  <a:pt x="295275" y="152400"/>
                </a:lnTo>
                <a:cubicBezTo>
                  <a:pt x="300514" y="152400"/>
                  <a:pt x="304800" y="148114"/>
                  <a:pt x="304800" y="142875"/>
                </a:cubicBezTo>
                <a:close/>
                <a:moveTo>
                  <a:pt x="171450" y="152400"/>
                </a:moveTo>
                <a:cubicBezTo>
                  <a:pt x="192478" y="152400"/>
                  <a:pt x="209550" y="135328"/>
                  <a:pt x="209550" y="114300"/>
                </a:cubicBezTo>
                <a:cubicBezTo>
                  <a:pt x="209550" y="93272"/>
                  <a:pt x="192478" y="76200"/>
                  <a:pt x="171450" y="76200"/>
                </a:cubicBezTo>
                <a:cubicBezTo>
                  <a:pt x="150422" y="76200"/>
                  <a:pt x="133350" y="93272"/>
                  <a:pt x="133350" y="114300"/>
                </a:cubicBezTo>
                <a:cubicBezTo>
                  <a:pt x="133350" y="135328"/>
                  <a:pt x="150422" y="152400"/>
                  <a:pt x="171450" y="152400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12" name="Text 9"/>
          <p:cNvSpPr/>
          <p:nvPr/>
        </p:nvSpPr>
        <p:spPr>
          <a:xfrm>
            <a:off x="830104" y="5054600"/>
            <a:ext cx="496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优化资源教室功能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0104" y="5359400"/>
            <a:ext cx="4953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配备康复器材，制定使用时间表，实现每日30分钟感统+20分钟学业辅导。</a:t>
            </a:r>
            <a:endParaRPr lang="en-US" sz="1600" dirty="0"/>
          </a:p>
        </p:txBody>
      </p:sp>
      <p:pic>
        <p:nvPicPr>
          <p:cNvPr id="14" name="Image 1" descr="https://kimi-web-img.moonshot.cn/img/strategistsworld.com/403e9c22ea2c2bf3bd5cb5eba43f359cb76c2744.jpg"/>
          <p:cNvPicPr>
            <a:picLocks noChangeAspect="1"/>
          </p:cNvPicPr>
          <p:nvPr/>
        </p:nvPicPr>
        <p:blipFill>
          <a:blip r:embed="rId2"/>
          <a:srcRect l="22400" r="22400"/>
          <a:stretch>
            <a:fillRect/>
          </a:stretch>
        </p:blipFill>
        <p:spPr>
          <a:xfrm>
            <a:off x="7362190" y="3022600"/>
            <a:ext cx="3042920" cy="3307715"/>
          </a:xfrm>
          <a:prstGeom prst="roundRect">
            <a:avLst>
              <a:gd name="adj" fmla="val 2609"/>
            </a:avLst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524000"/>
            <a:ext cx="4203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School Action 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286000" y="22860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多感官课程与分段教学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99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727200" y="320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1922462" y="34163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19063" y="0"/>
                </a:moveTo>
                <a:cubicBezTo>
                  <a:pt x="132234" y="0"/>
                  <a:pt x="142875" y="10641"/>
                  <a:pt x="142875" y="23812"/>
                </a:cubicBezTo>
                <a:lnTo>
                  <a:pt x="142875" y="47625"/>
                </a:lnTo>
                <a:lnTo>
                  <a:pt x="238125" y="47625"/>
                </a:lnTo>
                <a:cubicBezTo>
                  <a:pt x="251296" y="47625"/>
                  <a:pt x="261938" y="58266"/>
                  <a:pt x="261938" y="71438"/>
                </a:cubicBezTo>
                <a:cubicBezTo>
                  <a:pt x="261938" y="84609"/>
                  <a:pt x="251296" y="95250"/>
                  <a:pt x="238125" y="95250"/>
                </a:cubicBezTo>
                <a:lnTo>
                  <a:pt x="230981" y="95250"/>
                </a:lnTo>
                <a:lnTo>
                  <a:pt x="224730" y="112440"/>
                </a:lnTo>
                <a:cubicBezTo>
                  <a:pt x="212527" y="146075"/>
                  <a:pt x="194146" y="176808"/>
                  <a:pt x="171004" y="203225"/>
                </a:cubicBezTo>
                <a:cubicBezTo>
                  <a:pt x="181570" y="209773"/>
                  <a:pt x="192584" y="215578"/>
                  <a:pt x="204043" y="220712"/>
                </a:cubicBezTo>
                <a:lnTo>
                  <a:pt x="241548" y="237381"/>
                </a:lnTo>
                <a:lnTo>
                  <a:pt x="287834" y="133201"/>
                </a:lnTo>
                <a:cubicBezTo>
                  <a:pt x="291629" y="124569"/>
                  <a:pt x="300186" y="119063"/>
                  <a:pt x="309562" y="119063"/>
                </a:cubicBezTo>
                <a:cubicBezTo>
                  <a:pt x="318939" y="119063"/>
                  <a:pt x="327496" y="124569"/>
                  <a:pt x="331291" y="133201"/>
                </a:cubicBezTo>
                <a:lnTo>
                  <a:pt x="426541" y="347514"/>
                </a:lnTo>
                <a:cubicBezTo>
                  <a:pt x="431899" y="359569"/>
                  <a:pt x="426467" y="373633"/>
                  <a:pt x="414486" y="378916"/>
                </a:cubicBezTo>
                <a:cubicBezTo>
                  <a:pt x="402506" y="384200"/>
                  <a:pt x="388367" y="378842"/>
                  <a:pt x="383084" y="366861"/>
                </a:cubicBezTo>
                <a:lnTo>
                  <a:pt x="368201" y="333375"/>
                </a:lnTo>
                <a:lnTo>
                  <a:pt x="250999" y="333375"/>
                </a:lnTo>
                <a:lnTo>
                  <a:pt x="236116" y="366861"/>
                </a:lnTo>
                <a:cubicBezTo>
                  <a:pt x="230758" y="378916"/>
                  <a:pt x="216694" y="384274"/>
                  <a:pt x="204713" y="378916"/>
                </a:cubicBezTo>
                <a:cubicBezTo>
                  <a:pt x="192732" y="373559"/>
                  <a:pt x="187300" y="359494"/>
                  <a:pt x="192658" y="347514"/>
                </a:cubicBezTo>
                <a:lnTo>
                  <a:pt x="222275" y="280913"/>
                </a:lnTo>
                <a:lnTo>
                  <a:pt x="184770" y="264244"/>
                </a:lnTo>
                <a:cubicBezTo>
                  <a:pt x="167655" y="256654"/>
                  <a:pt x="151284" y="247576"/>
                  <a:pt x="135806" y="237158"/>
                </a:cubicBezTo>
                <a:cubicBezTo>
                  <a:pt x="119955" y="249957"/>
                  <a:pt x="102617" y="261119"/>
                  <a:pt x="84088" y="270421"/>
                </a:cubicBezTo>
                <a:lnTo>
                  <a:pt x="58266" y="283220"/>
                </a:lnTo>
                <a:cubicBezTo>
                  <a:pt x="46509" y="289099"/>
                  <a:pt x="32221" y="284336"/>
                  <a:pt x="26343" y="272579"/>
                </a:cubicBezTo>
                <a:cubicBezTo>
                  <a:pt x="20464" y="260821"/>
                  <a:pt x="25226" y="246534"/>
                  <a:pt x="36984" y="240655"/>
                </a:cubicBezTo>
                <a:lnTo>
                  <a:pt x="62657" y="227781"/>
                </a:lnTo>
                <a:cubicBezTo>
                  <a:pt x="74786" y="221679"/>
                  <a:pt x="86320" y="214610"/>
                  <a:pt x="97185" y="206722"/>
                </a:cubicBezTo>
                <a:cubicBezTo>
                  <a:pt x="86916" y="197272"/>
                  <a:pt x="77242" y="187077"/>
                  <a:pt x="68238" y="176287"/>
                </a:cubicBezTo>
                <a:lnTo>
                  <a:pt x="60722" y="167208"/>
                </a:lnTo>
                <a:cubicBezTo>
                  <a:pt x="52313" y="157088"/>
                  <a:pt x="53653" y="142056"/>
                  <a:pt x="63773" y="133648"/>
                </a:cubicBezTo>
                <a:cubicBezTo>
                  <a:pt x="73893" y="125239"/>
                  <a:pt x="88925" y="126578"/>
                  <a:pt x="97334" y="136699"/>
                </a:cubicBezTo>
                <a:lnTo>
                  <a:pt x="104924" y="145777"/>
                </a:lnTo>
                <a:cubicBezTo>
                  <a:pt x="113481" y="156121"/>
                  <a:pt x="122858" y="165720"/>
                  <a:pt x="132755" y="174575"/>
                </a:cubicBezTo>
                <a:cubicBezTo>
                  <a:pt x="153219" y="151954"/>
                  <a:pt x="169366" y="125388"/>
                  <a:pt x="180008" y="96143"/>
                </a:cubicBezTo>
                <a:lnTo>
                  <a:pt x="180380" y="95250"/>
                </a:lnTo>
                <a:lnTo>
                  <a:pt x="23887" y="95250"/>
                </a:lnTo>
                <a:cubicBezTo>
                  <a:pt x="10641" y="95250"/>
                  <a:pt x="0" y="84609"/>
                  <a:pt x="0" y="71438"/>
                </a:cubicBezTo>
                <a:cubicBezTo>
                  <a:pt x="0" y="58266"/>
                  <a:pt x="10641" y="47625"/>
                  <a:pt x="23812" y="47625"/>
                </a:cubicBezTo>
                <a:lnTo>
                  <a:pt x="95250" y="47625"/>
                </a:lnTo>
                <a:lnTo>
                  <a:pt x="95250" y="23812"/>
                </a:lnTo>
                <a:cubicBezTo>
                  <a:pt x="95250" y="10641"/>
                  <a:pt x="105891" y="0"/>
                  <a:pt x="119063" y="0"/>
                </a:cubicBezTo>
                <a:close/>
                <a:moveTo>
                  <a:pt x="309563" y="201513"/>
                </a:moveTo>
                <a:lnTo>
                  <a:pt x="272132" y="285750"/>
                </a:lnTo>
                <a:lnTo>
                  <a:pt x="346993" y="285750"/>
                </a:lnTo>
                <a:lnTo>
                  <a:pt x="309563" y="201513"/>
                </a:lnTo>
                <a:close/>
              </a:path>
            </a:pathLst>
          </a:custGeom>
          <a:solidFill>
            <a:srgbClr val="007BFF"/>
          </a:solidFill>
        </p:spPr>
      </p:sp>
      <p:sp>
        <p:nvSpPr>
          <p:cNvPr id="8" name="Text 5"/>
          <p:cNvSpPr/>
          <p:nvPr/>
        </p:nvSpPr>
        <p:spPr>
          <a:xfrm>
            <a:off x="400050" y="41656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语文：多感官输入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2750" y="46228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拼音教学结合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口型、卡片、游戏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；生字采用“先描红再仿写”分层模式。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16400" y="299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689600" y="320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956300" y="34163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47625" y="0"/>
                </a:moveTo>
                <a:cubicBezTo>
                  <a:pt x="21357" y="0"/>
                  <a:pt x="0" y="21357"/>
                  <a:pt x="0" y="47625"/>
                </a:cubicBezTo>
                <a:lnTo>
                  <a:pt x="0" y="333375"/>
                </a:lnTo>
                <a:cubicBezTo>
                  <a:pt x="0" y="359643"/>
                  <a:pt x="21357" y="381000"/>
                  <a:pt x="47625" y="381000"/>
                </a:cubicBezTo>
                <a:lnTo>
                  <a:pt x="238125" y="381000"/>
                </a:lnTo>
                <a:cubicBezTo>
                  <a:pt x="264393" y="381000"/>
                  <a:pt x="285750" y="359643"/>
                  <a:pt x="285750" y="333375"/>
                </a:cubicBezTo>
                <a:lnTo>
                  <a:pt x="285750" y="47625"/>
                </a:lnTo>
                <a:cubicBezTo>
                  <a:pt x="285750" y="21357"/>
                  <a:pt x="264393" y="0"/>
                  <a:pt x="238125" y="0"/>
                </a:cubicBezTo>
                <a:lnTo>
                  <a:pt x="47625" y="0"/>
                </a:lnTo>
                <a:close/>
                <a:moveTo>
                  <a:pt x="71438" y="47625"/>
                </a:moveTo>
                <a:lnTo>
                  <a:pt x="214313" y="47625"/>
                </a:lnTo>
                <a:cubicBezTo>
                  <a:pt x="227484" y="47625"/>
                  <a:pt x="238125" y="58266"/>
                  <a:pt x="238125" y="71438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71438" y="119063"/>
                </a:lnTo>
                <a:cubicBezTo>
                  <a:pt x="58266" y="119063"/>
                  <a:pt x="47625" y="108421"/>
                  <a:pt x="47625" y="95250"/>
                </a:cubicBezTo>
                <a:lnTo>
                  <a:pt x="47625" y="71438"/>
                </a:lnTo>
                <a:cubicBezTo>
                  <a:pt x="47625" y="58266"/>
                  <a:pt x="58266" y="47625"/>
                  <a:pt x="71438" y="47625"/>
                </a:cubicBezTo>
                <a:close/>
                <a:moveTo>
                  <a:pt x="83344" y="172641"/>
                </a:moveTo>
                <a:cubicBezTo>
                  <a:pt x="83344" y="182497"/>
                  <a:pt x="75341" y="190500"/>
                  <a:pt x="65484" y="190500"/>
                </a:cubicBezTo>
                <a:cubicBezTo>
                  <a:pt x="55628" y="190500"/>
                  <a:pt x="47625" y="182497"/>
                  <a:pt x="47625" y="172641"/>
                </a:cubicBezTo>
                <a:cubicBezTo>
                  <a:pt x="47625" y="162784"/>
                  <a:pt x="55628" y="154781"/>
                  <a:pt x="65484" y="154781"/>
                </a:cubicBezTo>
                <a:cubicBezTo>
                  <a:pt x="75341" y="154781"/>
                  <a:pt x="83344" y="162784"/>
                  <a:pt x="83344" y="172641"/>
                </a:cubicBezTo>
                <a:close/>
                <a:moveTo>
                  <a:pt x="142875" y="190500"/>
                </a:moveTo>
                <a:cubicBezTo>
                  <a:pt x="133018" y="190500"/>
                  <a:pt x="125016" y="182497"/>
                  <a:pt x="125016" y="172641"/>
                </a:cubicBezTo>
                <a:cubicBezTo>
                  <a:pt x="125016" y="162784"/>
                  <a:pt x="133018" y="154781"/>
                  <a:pt x="142875" y="154781"/>
                </a:cubicBezTo>
                <a:cubicBezTo>
                  <a:pt x="152732" y="154781"/>
                  <a:pt x="160734" y="162784"/>
                  <a:pt x="160734" y="172641"/>
                </a:cubicBezTo>
                <a:cubicBezTo>
                  <a:pt x="160734" y="182497"/>
                  <a:pt x="152732" y="190500"/>
                  <a:pt x="142875" y="190500"/>
                </a:cubicBezTo>
                <a:close/>
                <a:moveTo>
                  <a:pt x="238125" y="172641"/>
                </a:moveTo>
                <a:cubicBezTo>
                  <a:pt x="238125" y="182497"/>
                  <a:pt x="230122" y="190500"/>
                  <a:pt x="220266" y="190500"/>
                </a:cubicBezTo>
                <a:cubicBezTo>
                  <a:pt x="210409" y="190500"/>
                  <a:pt x="202406" y="182497"/>
                  <a:pt x="202406" y="172641"/>
                </a:cubicBezTo>
                <a:cubicBezTo>
                  <a:pt x="202406" y="162784"/>
                  <a:pt x="210409" y="154781"/>
                  <a:pt x="220266" y="154781"/>
                </a:cubicBezTo>
                <a:cubicBezTo>
                  <a:pt x="230122" y="154781"/>
                  <a:pt x="238125" y="162784"/>
                  <a:pt x="238125" y="172641"/>
                </a:cubicBezTo>
                <a:close/>
                <a:moveTo>
                  <a:pt x="65484" y="261938"/>
                </a:moveTo>
                <a:cubicBezTo>
                  <a:pt x="55628" y="261938"/>
                  <a:pt x="47625" y="253935"/>
                  <a:pt x="47625" y="244078"/>
                </a:cubicBezTo>
                <a:cubicBezTo>
                  <a:pt x="47625" y="234221"/>
                  <a:pt x="55628" y="226219"/>
                  <a:pt x="65484" y="226219"/>
                </a:cubicBezTo>
                <a:cubicBezTo>
                  <a:pt x="75341" y="226219"/>
                  <a:pt x="83344" y="234221"/>
                  <a:pt x="83344" y="244078"/>
                </a:cubicBezTo>
                <a:cubicBezTo>
                  <a:pt x="83344" y="253935"/>
                  <a:pt x="75341" y="261938"/>
                  <a:pt x="65484" y="261938"/>
                </a:cubicBezTo>
                <a:close/>
                <a:moveTo>
                  <a:pt x="160734" y="244078"/>
                </a:moveTo>
                <a:cubicBezTo>
                  <a:pt x="160734" y="253935"/>
                  <a:pt x="152732" y="261938"/>
                  <a:pt x="142875" y="261938"/>
                </a:cubicBezTo>
                <a:cubicBezTo>
                  <a:pt x="133018" y="261938"/>
                  <a:pt x="125016" y="253935"/>
                  <a:pt x="125016" y="244078"/>
                </a:cubicBezTo>
                <a:cubicBezTo>
                  <a:pt x="125016" y="234221"/>
                  <a:pt x="133018" y="226219"/>
                  <a:pt x="142875" y="226219"/>
                </a:cubicBezTo>
                <a:cubicBezTo>
                  <a:pt x="152732" y="226219"/>
                  <a:pt x="160734" y="234221"/>
                  <a:pt x="160734" y="244078"/>
                </a:cubicBezTo>
                <a:close/>
                <a:moveTo>
                  <a:pt x="220266" y="261938"/>
                </a:moveTo>
                <a:cubicBezTo>
                  <a:pt x="210409" y="261938"/>
                  <a:pt x="202406" y="253935"/>
                  <a:pt x="202406" y="244078"/>
                </a:cubicBezTo>
                <a:cubicBezTo>
                  <a:pt x="202406" y="234221"/>
                  <a:pt x="210409" y="226219"/>
                  <a:pt x="220266" y="226219"/>
                </a:cubicBezTo>
                <a:cubicBezTo>
                  <a:pt x="230122" y="226219"/>
                  <a:pt x="238125" y="234221"/>
                  <a:pt x="238125" y="244078"/>
                </a:cubicBezTo>
                <a:cubicBezTo>
                  <a:pt x="238125" y="253935"/>
                  <a:pt x="230122" y="261938"/>
                  <a:pt x="220266" y="261938"/>
                </a:cubicBezTo>
                <a:close/>
                <a:moveTo>
                  <a:pt x="47625" y="315516"/>
                </a:moveTo>
                <a:cubicBezTo>
                  <a:pt x="47625" y="305619"/>
                  <a:pt x="55587" y="297656"/>
                  <a:pt x="65484" y="297656"/>
                </a:cubicBezTo>
                <a:lnTo>
                  <a:pt x="148828" y="297656"/>
                </a:lnTo>
                <a:cubicBezTo>
                  <a:pt x="158725" y="297656"/>
                  <a:pt x="166688" y="305619"/>
                  <a:pt x="166688" y="315516"/>
                </a:cubicBezTo>
                <a:cubicBezTo>
                  <a:pt x="166688" y="325413"/>
                  <a:pt x="158725" y="333375"/>
                  <a:pt x="148828" y="333375"/>
                </a:cubicBezTo>
                <a:lnTo>
                  <a:pt x="65484" y="333375"/>
                </a:lnTo>
                <a:cubicBezTo>
                  <a:pt x="55587" y="333375"/>
                  <a:pt x="47625" y="325413"/>
                  <a:pt x="47625" y="315516"/>
                </a:cubicBezTo>
                <a:close/>
                <a:moveTo>
                  <a:pt x="220266" y="297656"/>
                </a:moveTo>
                <a:cubicBezTo>
                  <a:pt x="230163" y="297656"/>
                  <a:pt x="238125" y="305619"/>
                  <a:pt x="238125" y="315516"/>
                </a:cubicBezTo>
                <a:cubicBezTo>
                  <a:pt x="238125" y="325413"/>
                  <a:pt x="230163" y="333375"/>
                  <a:pt x="220266" y="333375"/>
                </a:cubicBezTo>
                <a:cubicBezTo>
                  <a:pt x="210369" y="333375"/>
                  <a:pt x="202406" y="325413"/>
                  <a:pt x="202406" y="315516"/>
                </a:cubicBezTo>
                <a:cubicBezTo>
                  <a:pt x="202406" y="305619"/>
                  <a:pt x="210369" y="297656"/>
                  <a:pt x="220266" y="297656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3" name="Text 10"/>
          <p:cNvSpPr/>
          <p:nvPr/>
        </p:nvSpPr>
        <p:spPr>
          <a:xfrm>
            <a:off x="4362450" y="41656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数学：具象化辅助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75150" y="46228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应用题用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积木、计数器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演示；易混淆图形制作成立体模型。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78800" y="2997200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9652000" y="320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9871075" y="3416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ubicBezTo>
                  <a:pt x="0" y="85360"/>
                  <a:pt x="85360" y="0"/>
                  <a:pt x="190500" y="0"/>
                </a:cubicBezTo>
                <a:close/>
                <a:moveTo>
                  <a:pt x="172641" y="89297"/>
                </a:moveTo>
                <a:lnTo>
                  <a:pt x="172641" y="190500"/>
                </a:lnTo>
                <a:cubicBezTo>
                  <a:pt x="172641" y="196453"/>
                  <a:pt x="175617" y="202034"/>
                  <a:pt x="180603" y="205383"/>
                </a:cubicBezTo>
                <a:lnTo>
                  <a:pt x="252040" y="253008"/>
                </a:lnTo>
                <a:cubicBezTo>
                  <a:pt x="260226" y="258514"/>
                  <a:pt x="271314" y="256282"/>
                  <a:pt x="276820" y="248022"/>
                </a:cubicBezTo>
                <a:cubicBezTo>
                  <a:pt x="282327" y="239762"/>
                  <a:pt x="280095" y="228749"/>
                  <a:pt x="271835" y="223242"/>
                </a:cubicBezTo>
                <a:lnTo>
                  <a:pt x="208359" y="180975"/>
                </a:lnTo>
                <a:lnTo>
                  <a:pt x="208359" y="89297"/>
                </a:lnTo>
                <a:cubicBezTo>
                  <a:pt x="208359" y="79400"/>
                  <a:pt x="200397" y="71438"/>
                  <a:pt x="190500" y="71438"/>
                </a:cubicBezTo>
                <a:cubicBezTo>
                  <a:pt x="180603" y="71438"/>
                  <a:pt x="172641" y="79400"/>
                  <a:pt x="172641" y="89297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8" name="Text 15"/>
          <p:cNvSpPr/>
          <p:nvPr/>
        </p:nvSpPr>
        <p:spPr>
          <a:xfrm>
            <a:off x="8324850" y="41656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课堂：分段与提示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37550" y="46228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采用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10分钟分段教学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，用视觉提示卡规范行为，即时积分奖励。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web-img.moonshot.cn/img/img.freepik.com/08182cd8b83e0cd94506db843977210e8d3a9b9f.jpg"/>
          <p:cNvPicPr>
            <a:picLocks noChangeAspect="1"/>
          </p:cNvPicPr>
          <p:nvPr/>
        </p:nvPicPr>
        <p:blipFill>
          <a:blip r:embed="rId2"/>
          <a:srcRect l="25553" r="25553"/>
          <a:stretch>
            <a:fillRect/>
          </a:stretch>
        </p:blipFill>
        <p:spPr>
          <a:xfrm>
            <a:off x="3102610" y="2971165"/>
            <a:ext cx="2268220" cy="2601595"/>
          </a:xfrm>
          <a:prstGeom prst="roundRect">
            <a:avLst>
              <a:gd name="adj" fmla="val 2752"/>
            </a:avLst>
          </a:prstGeom>
        </p:spPr>
      </p:pic>
      <p:sp>
        <p:nvSpPr>
          <p:cNvPr id="4" name="Text 0"/>
          <p:cNvSpPr/>
          <p:nvPr/>
        </p:nvSpPr>
        <p:spPr>
          <a:xfrm>
            <a:off x="1364615" y="1680845"/>
            <a:ext cx="6032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School Action 3</a:t>
            </a:r>
            <a:endParaRPr lang="zh-CN" altLang="en-US" sz="3000" b="1" dirty="0">
              <a:solidFill>
                <a:srgbClr val="007B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403090" y="2138045"/>
            <a:ext cx="5943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同伴</a:t>
            </a:r>
            <a:r>
              <a:rPr lang="zh-CN" altLang="en-US" sz="1600" b="1" dirty="0">
                <a:solidFill>
                  <a:srgbClr val="007B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互助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178550" y="3175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6756400" y="3175000"/>
            <a:ext cx="414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开展主题班会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6756400" y="3479800"/>
            <a:ext cx="412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用动画、情景剧普及ADHD与感统知识，消除误解。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78550" y="3937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60080" y="31671"/>
                </a:moveTo>
                <a:lnTo>
                  <a:pt x="90666" y="108823"/>
                </a:lnTo>
                <a:cubicBezTo>
                  <a:pt x="87928" y="111859"/>
                  <a:pt x="88047" y="116562"/>
                  <a:pt x="90964" y="119479"/>
                </a:cubicBezTo>
                <a:cubicBezTo>
                  <a:pt x="109121" y="137636"/>
                  <a:pt x="138589" y="137636"/>
                  <a:pt x="156746" y="119479"/>
                </a:cubicBezTo>
                <a:lnTo>
                  <a:pt x="175677" y="100548"/>
                </a:lnTo>
                <a:cubicBezTo>
                  <a:pt x="178177" y="98048"/>
                  <a:pt x="181332" y="96679"/>
                  <a:pt x="184547" y="96441"/>
                </a:cubicBezTo>
                <a:cubicBezTo>
                  <a:pt x="188595" y="96083"/>
                  <a:pt x="192762" y="97453"/>
                  <a:pt x="195858" y="100548"/>
                </a:cubicBezTo>
                <a:lnTo>
                  <a:pt x="300990" y="204787"/>
                </a:lnTo>
                <a:lnTo>
                  <a:pt x="342900" y="171450"/>
                </a:lnTo>
                <a:lnTo>
                  <a:pt x="342900" y="0"/>
                </a:lnTo>
                <a:lnTo>
                  <a:pt x="276225" y="38100"/>
                </a:lnTo>
                <a:lnTo>
                  <a:pt x="262057" y="28635"/>
                </a:lnTo>
                <a:cubicBezTo>
                  <a:pt x="252651" y="22384"/>
                  <a:pt x="241637" y="19050"/>
                  <a:pt x="230326" y="19050"/>
                </a:cubicBezTo>
                <a:lnTo>
                  <a:pt x="188416" y="19050"/>
                </a:lnTo>
                <a:cubicBezTo>
                  <a:pt x="187762" y="19050"/>
                  <a:pt x="187047" y="19050"/>
                  <a:pt x="186392" y="19110"/>
                </a:cubicBezTo>
                <a:cubicBezTo>
                  <a:pt x="176332" y="19645"/>
                  <a:pt x="166866" y="24170"/>
                  <a:pt x="160080" y="31671"/>
                </a:cubicBezTo>
                <a:close/>
                <a:moveTo>
                  <a:pt x="69413" y="89714"/>
                </a:moveTo>
                <a:lnTo>
                  <a:pt x="132993" y="19050"/>
                </a:lnTo>
                <a:lnTo>
                  <a:pt x="109418" y="19050"/>
                </a:lnTo>
                <a:cubicBezTo>
                  <a:pt x="94238" y="19050"/>
                  <a:pt x="79712" y="25063"/>
                  <a:pt x="68997" y="35778"/>
                </a:cubicBezTo>
                <a:lnTo>
                  <a:pt x="0" y="114300"/>
                </a:lnTo>
                <a:lnTo>
                  <a:pt x="0" y="323850"/>
                </a:lnTo>
                <a:lnTo>
                  <a:pt x="85725" y="242888"/>
                </a:lnTo>
                <a:lnTo>
                  <a:pt x="93107" y="249019"/>
                </a:lnTo>
                <a:cubicBezTo>
                  <a:pt x="106799" y="260449"/>
                  <a:pt x="124063" y="266700"/>
                  <a:pt x="141863" y="266700"/>
                </a:cubicBezTo>
                <a:lnTo>
                  <a:pt x="151209" y="266700"/>
                </a:lnTo>
                <a:lnTo>
                  <a:pt x="147042" y="262533"/>
                </a:lnTo>
                <a:cubicBezTo>
                  <a:pt x="141446" y="256937"/>
                  <a:pt x="141446" y="247888"/>
                  <a:pt x="147042" y="242352"/>
                </a:cubicBezTo>
                <a:cubicBezTo>
                  <a:pt x="152638" y="236815"/>
                  <a:pt x="161687" y="236756"/>
                  <a:pt x="167223" y="242352"/>
                </a:cubicBezTo>
                <a:lnTo>
                  <a:pt x="191631" y="266760"/>
                </a:lnTo>
                <a:lnTo>
                  <a:pt x="196989" y="266760"/>
                </a:lnTo>
                <a:cubicBezTo>
                  <a:pt x="208359" y="266760"/>
                  <a:pt x="219492" y="264200"/>
                  <a:pt x="229612" y="259437"/>
                </a:cubicBezTo>
                <a:lnTo>
                  <a:pt x="213717" y="243483"/>
                </a:lnTo>
                <a:cubicBezTo>
                  <a:pt x="208121" y="237887"/>
                  <a:pt x="208121" y="228838"/>
                  <a:pt x="213717" y="223302"/>
                </a:cubicBezTo>
                <a:cubicBezTo>
                  <a:pt x="219313" y="217765"/>
                  <a:pt x="228362" y="217706"/>
                  <a:pt x="233898" y="223302"/>
                </a:cubicBezTo>
                <a:lnTo>
                  <a:pt x="252948" y="242352"/>
                </a:lnTo>
                <a:lnTo>
                  <a:pt x="263366" y="231934"/>
                </a:lnTo>
                <a:cubicBezTo>
                  <a:pt x="268665" y="226635"/>
                  <a:pt x="270212" y="218956"/>
                  <a:pt x="267891" y="212229"/>
                </a:cubicBezTo>
                <a:lnTo>
                  <a:pt x="185797" y="130790"/>
                </a:lnTo>
                <a:lnTo>
                  <a:pt x="176927" y="139660"/>
                </a:lnTo>
                <a:cubicBezTo>
                  <a:pt x="147578" y="169009"/>
                  <a:pt x="100072" y="169009"/>
                  <a:pt x="70723" y="139660"/>
                </a:cubicBezTo>
                <a:cubicBezTo>
                  <a:pt x="57031" y="125968"/>
                  <a:pt x="56495" y="104001"/>
                  <a:pt x="69413" y="89654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6756400" y="3937000"/>
            <a:ext cx="472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建立同伴互助小组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6756400" y="4241800"/>
            <a:ext cx="4711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遴选友善同学，在课堂上提醒、活动中协助、社交中示范。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6650" y="469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6387" y="-15419"/>
                </a:moveTo>
                <a:cubicBezTo>
                  <a:pt x="138410" y="-20300"/>
                  <a:pt x="128349" y="-20300"/>
                  <a:pt x="120372" y="-15419"/>
                </a:cubicBezTo>
                <a:cubicBezTo>
                  <a:pt x="105847" y="-6548"/>
                  <a:pt x="96857" y="-4167"/>
                  <a:pt x="79831" y="-4524"/>
                </a:cubicBezTo>
                <a:cubicBezTo>
                  <a:pt x="70485" y="-4762"/>
                  <a:pt x="61793" y="298"/>
                  <a:pt x="57269" y="8513"/>
                </a:cubicBezTo>
                <a:cubicBezTo>
                  <a:pt x="49113" y="23455"/>
                  <a:pt x="42505" y="30063"/>
                  <a:pt x="27563" y="38219"/>
                </a:cubicBezTo>
                <a:cubicBezTo>
                  <a:pt x="19348" y="42684"/>
                  <a:pt x="14347" y="51435"/>
                  <a:pt x="14526" y="60781"/>
                </a:cubicBezTo>
                <a:cubicBezTo>
                  <a:pt x="14942" y="77807"/>
                  <a:pt x="12502" y="86797"/>
                  <a:pt x="3631" y="101322"/>
                </a:cubicBezTo>
                <a:cubicBezTo>
                  <a:pt x="-1250" y="109299"/>
                  <a:pt x="-1250" y="119360"/>
                  <a:pt x="3631" y="127337"/>
                </a:cubicBezTo>
                <a:cubicBezTo>
                  <a:pt x="12502" y="141863"/>
                  <a:pt x="14883" y="150852"/>
                  <a:pt x="14526" y="167878"/>
                </a:cubicBezTo>
                <a:cubicBezTo>
                  <a:pt x="14287" y="177225"/>
                  <a:pt x="19348" y="185916"/>
                  <a:pt x="27563" y="190440"/>
                </a:cubicBezTo>
                <a:cubicBezTo>
                  <a:pt x="40719" y="197644"/>
                  <a:pt x="47387" y="203597"/>
                  <a:pt x="54412" y="215146"/>
                </a:cubicBezTo>
                <a:lnTo>
                  <a:pt x="25420" y="272951"/>
                </a:lnTo>
                <a:cubicBezTo>
                  <a:pt x="21908" y="280035"/>
                  <a:pt x="24765" y="288608"/>
                  <a:pt x="31790" y="292120"/>
                </a:cubicBezTo>
                <a:lnTo>
                  <a:pt x="82987" y="317718"/>
                </a:lnTo>
                <a:cubicBezTo>
                  <a:pt x="89833" y="321112"/>
                  <a:pt x="98167" y="318552"/>
                  <a:pt x="101858" y="311884"/>
                </a:cubicBezTo>
                <a:lnTo>
                  <a:pt x="133290" y="255270"/>
                </a:lnTo>
                <a:lnTo>
                  <a:pt x="164723" y="311884"/>
                </a:lnTo>
                <a:cubicBezTo>
                  <a:pt x="168414" y="318552"/>
                  <a:pt x="176748" y="321171"/>
                  <a:pt x="183594" y="317718"/>
                </a:cubicBezTo>
                <a:lnTo>
                  <a:pt x="234791" y="292120"/>
                </a:lnTo>
                <a:cubicBezTo>
                  <a:pt x="241875" y="288608"/>
                  <a:pt x="244733" y="280035"/>
                  <a:pt x="241161" y="272951"/>
                </a:cubicBezTo>
                <a:lnTo>
                  <a:pt x="212229" y="215086"/>
                </a:lnTo>
                <a:cubicBezTo>
                  <a:pt x="219194" y="203537"/>
                  <a:pt x="225921" y="197584"/>
                  <a:pt x="239078" y="190381"/>
                </a:cubicBezTo>
                <a:cubicBezTo>
                  <a:pt x="247293" y="185916"/>
                  <a:pt x="252293" y="177165"/>
                  <a:pt x="252115" y="167819"/>
                </a:cubicBezTo>
                <a:cubicBezTo>
                  <a:pt x="251698" y="150793"/>
                  <a:pt x="254139" y="141803"/>
                  <a:pt x="263009" y="127278"/>
                </a:cubicBezTo>
                <a:cubicBezTo>
                  <a:pt x="267891" y="119301"/>
                  <a:pt x="267891" y="109240"/>
                  <a:pt x="263009" y="101263"/>
                </a:cubicBezTo>
                <a:cubicBezTo>
                  <a:pt x="254139" y="86737"/>
                  <a:pt x="251758" y="77748"/>
                  <a:pt x="252115" y="60722"/>
                </a:cubicBezTo>
                <a:cubicBezTo>
                  <a:pt x="252353" y="51375"/>
                  <a:pt x="247293" y="42684"/>
                  <a:pt x="239078" y="38160"/>
                </a:cubicBezTo>
                <a:cubicBezTo>
                  <a:pt x="224135" y="30004"/>
                  <a:pt x="217527" y="23396"/>
                  <a:pt x="209371" y="8453"/>
                </a:cubicBezTo>
                <a:cubicBezTo>
                  <a:pt x="204907" y="238"/>
                  <a:pt x="196155" y="-4762"/>
                  <a:pt x="186809" y="-4584"/>
                </a:cubicBezTo>
                <a:cubicBezTo>
                  <a:pt x="169783" y="-4167"/>
                  <a:pt x="160794" y="-6608"/>
                  <a:pt x="146268" y="-15478"/>
                </a:cubicBezTo>
                <a:close/>
                <a:moveTo>
                  <a:pt x="133350" y="57150"/>
                </a:moveTo>
                <a:cubicBezTo>
                  <a:pt x="164892" y="57150"/>
                  <a:pt x="190500" y="82758"/>
                  <a:pt x="190500" y="114300"/>
                </a:cubicBezTo>
                <a:cubicBezTo>
                  <a:pt x="190500" y="145842"/>
                  <a:pt x="164892" y="171450"/>
                  <a:pt x="133350" y="171450"/>
                </a:cubicBezTo>
                <a:cubicBezTo>
                  <a:pt x="101808" y="171450"/>
                  <a:pt x="76200" y="145842"/>
                  <a:pt x="76200" y="114300"/>
                </a:cubicBezTo>
                <a:cubicBezTo>
                  <a:pt x="76200" y="82758"/>
                  <a:pt x="101808" y="57150"/>
                  <a:pt x="133350" y="57150"/>
                </a:cubicBezTo>
                <a:close/>
              </a:path>
            </a:pathLst>
          </a:custGeom>
          <a:solidFill>
            <a:srgbClr val="0056B3"/>
          </a:solidFill>
        </p:spPr>
      </p:sp>
      <p:sp>
        <p:nvSpPr>
          <p:cNvPr id="13" name="Text 9"/>
          <p:cNvSpPr/>
          <p:nvPr>
            <p:custDataLst>
              <p:tags r:id="rId7"/>
            </p:custDataLst>
          </p:nvPr>
        </p:nvSpPr>
        <p:spPr>
          <a:xfrm>
            <a:off x="6756400" y="46990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公开表扬合作行为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8"/>
            </p:custDataLst>
          </p:nvPr>
        </p:nvSpPr>
        <p:spPr>
          <a:xfrm>
            <a:off x="6756400" y="50038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将接纳与帮助差异纳入班级常规与评价体系。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371600"/>
            <a:ext cx="1081913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Family Action: From Overprotection to Independent support</a:t>
            </a:r>
            <a:endParaRPr lang="en-US" altLang="zh-CN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1168400" y="2133600"/>
            <a:ext cx="9855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1727200" y="335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017713" y="3568700"/>
            <a:ext cx="238125" cy="381000"/>
          </a:xfrm>
          <a:custGeom>
            <a:avLst/>
            <a:gdLst/>
            <a:ahLst/>
            <a:cxnLst/>
            <a:rect l="l" t="t" r="r" b="b"/>
            <a:pathLst>
              <a:path w="238125" h="381000">
                <a:moveTo>
                  <a:pt x="71438" y="47625"/>
                </a:moveTo>
                <a:cubicBezTo>
                  <a:pt x="71438" y="21340"/>
                  <a:pt x="92778" y="0"/>
                  <a:pt x="119063" y="0"/>
                </a:cubicBezTo>
                <a:cubicBezTo>
                  <a:pt x="145347" y="0"/>
                  <a:pt x="166688" y="21340"/>
                  <a:pt x="166688" y="47625"/>
                </a:cubicBezTo>
                <a:cubicBezTo>
                  <a:pt x="166688" y="73910"/>
                  <a:pt x="145347" y="95250"/>
                  <a:pt x="119063" y="95250"/>
                </a:cubicBezTo>
                <a:cubicBezTo>
                  <a:pt x="92778" y="95250"/>
                  <a:pt x="71438" y="73910"/>
                  <a:pt x="71438" y="47625"/>
                </a:cubicBezTo>
                <a:close/>
                <a:moveTo>
                  <a:pt x="107156" y="285750"/>
                </a:moveTo>
                <a:lnTo>
                  <a:pt x="107156" y="357188"/>
                </a:lnTo>
                <a:cubicBezTo>
                  <a:pt x="107156" y="370359"/>
                  <a:pt x="96515" y="381000"/>
                  <a:pt x="83344" y="381000"/>
                </a:cubicBezTo>
                <a:cubicBezTo>
                  <a:pt x="70172" y="381000"/>
                  <a:pt x="59531" y="370359"/>
                  <a:pt x="59531" y="357188"/>
                </a:cubicBezTo>
                <a:lnTo>
                  <a:pt x="59531" y="214164"/>
                </a:lnTo>
                <a:lnTo>
                  <a:pt x="43979" y="238869"/>
                </a:lnTo>
                <a:cubicBezTo>
                  <a:pt x="36984" y="250031"/>
                  <a:pt x="22250" y="253305"/>
                  <a:pt x="11162" y="246311"/>
                </a:cubicBezTo>
                <a:cubicBezTo>
                  <a:pt x="74" y="239316"/>
                  <a:pt x="-3349" y="224656"/>
                  <a:pt x="3646" y="213568"/>
                </a:cubicBezTo>
                <a:lnTo>
                  <a:pt x="33338" y="166464"/>
                </a:lnTo>
                <a:cubicBezTo>
                  <a:pt x="51867" y="136922"/>
                  <a:pt x="84237" y="119063"/>
                  <a:pt x="119063" y="119063"/>
                </a:cubicBezTo>
                <a:cubicBezTo>
                  <a:pt x="153888" y="119063"/>
                  <a:pt x="186258" y="136922"/>
                  <a:pt x="204787" y="166390"/>
                </a:cubicBezTo>
                <a:lnTo>
                  <a:pt x="234479" y="213568"/>
                </a:lnTo>
                <a:cubicBezTo>
                  <a:pt x="241474" y="224730"/>
                  <a:pt x="238125" y="239390"/>
                  <a:pt x="227037" y="246385"/>
                </a:cubicBezTo>
                <a:cubicBezTo>
                  <a:pt x="215950" y="253380"/>
                  <a:pt x="201216" y="250031"/>
                  <a:pt x="194221" y="238944"/>
                </a:cubicBezTo>
                <a:lnTo>
                  <a:pt x="178594" y="214164"/>
                </a:lnTo>
                <a:lnTo>
                  <a:pt x="178594" y="357188"/>
                </a:lnTo>
                <a:cubicBezTo>
                  <a:pt x="178594" y="370359"/>
                  <a:pt x="167953" y="381000"/>
                  <a:pt x="154781" y="381000"/>
                </a:cubicBezTo>
                <a:cubicBezTo>
                  <a:pt x="141610" y="381000"/>
                  <a:pt x="130969" y="370359"/>
                  <a:pt x="130969" y="357188"/>
                </a:cubicBezTo>
                <a:lnTo>
                  <a:pt x="130969" y="285750"/>
                </a:lnTo>
                <a:lnTo>
                  <a:pt x="107156" y="285750"/>
                </a:lnTo>
                <a:close/>
              </a:path>
            </a:pathLst>
          </a:custGeom>
          <a:solidFill>
            <a:srgbClr val="007BFF"/>
          </a:solidFill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00050" y="43180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调整教养模式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412750" y="47752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采用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任务分解法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逐步放手生活自理，鼓励独立解决问题。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5689600" y="335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5908675" y="356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6722" y="6400"/>
                </a:moveTo>
                <a:cubicBezTo>
                  <a:pt x="197569" y="-2084"/>
                  <a:pt x="183431" y="-2084"/>
                  <a:pt x="174352" y="6400"/>
                </a:cubicBezTo>
                <a:lnTo>
                  <a:pt x="7665" y="161181"/>
                </a:lnTo>
                <a:cubicBezTo>
                  <a:pt x="521" y="167878"/>
                  <a:pt x="-1860" y="178222"/>
                  <a:pt x="1712" y="187300"/>
                </a:cubicBezTo>
                <a:cubicBezTo>
                  <a:pt x="5283" y="196379"/>
                  <a:pt x="13990" y="202406"/>
                  <a:pt x="23812" y="202406"/>
                </a:cubicBezTo>
                <a:lnTo>
                  <a:pt x="35719" y="202406"/>
                </a:lnTo>
                <a:lnTo>
                  <a:pt x="35719" y="333375"/>
                </a:lnTo>
                <a:cubicBezTo>
                  <a:pt x="35719" y="359643"/>
                  <a:pt x="57076" y="381000"/>
                  <a:pt x="83344" y="381000"/>
                </a:cubicBezTo>
                <a:lnTo>
                  <a:pt x="297656" y="381000"/>
                </a:lnTo>
                <a:cubicBezTo>
                  <a:pt x="323924" y="381000"/>
                  <a:pt x="345281" y="359643"/>
                  <a:pt x="345281" y="333375"/>
                </a:cubicBezTo>
                <a:lnTo>
                  <a:pt x="345281" y="202406"/>
                </a:lnTo>
                <a:lnTo>
                  <a:pt x="357188" y="202406"/>
                </a:lnTo>
                <a:cubicBezTo>
                  <a:pt x="367010" y="202406"/>
                  <a:pt x="375791" y="196379"/>
                  <a:pt x="379363" y="187300"/>
                </a:cubicBezTo>
                <a:cubicBezTo>
                  <a:pt x="382935" y="178222"/>
                  <a:pt x="380554" y="167804"/>
                  <a:pt x="373410" y="161181"/>
                </a:cubicBezTo>
                <a:lnTo>
                  <a:pt x="206722" y="6400"/>
                </a:lnTo>
                <a:close/>
                <a:moveTo>
                  <a:pt x="178594" y="238125"/>
                </a:moveTo>
                <a:lnTo>
                  <a:pt x="202406" y="238125"/>
                </a:lnTo>
                <a:cubicBezTo>
                  <a:pt x="222126" y="238125"/>
                  <a:pt x="238125" y="254124"/>
                  <a:pt x="238125" y="273844"/>
                </a:cubicBezTo>
                <a:lnTo>
                  <a:pt x="238125" y="345281"/>
                </a:lnTo>
                <a:lnTo>
                  <a:pt x="142875" y="345281"/>
                </a:lnTo>
                <a:lnTo>
                  <a:pt x="142875" y="273844"/>
                </a:lnTo>
                <a:cubicBezTo>
                  <a:pt x="142875" y="254124"/>
                  <a:pt x="158874" y="238125"/>
                  <a:pt x="178594" y="238125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4362450" y="43180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延伸学校训练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4375150" y="47752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在家中开展简易感统训练，使用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注意力训练APP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辅助学习。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10"/>
            </p:custDataLst>
          </p:nvPr>
        </p:nvSpPr>
        <p:spPr>
          <a:xfrm>
            <a:off x="9652000" y="335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7BFF">
              <a:alpha val="20000"/>
            </a:srgbClr>
          </a:solidFill>
        </p:spPr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9871075" y="356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8324850" y="43180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关注情绪健康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8337550" y="4775200"/>
            <a:ext cx="3441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学习正面沟通，用</a:t>
            </a:r>
            <a:r>
              <a:rPr lang="en-US" sz="14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精神鼓励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培养内在动机。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5755" y="981075"/>
            <a:ext cx="7168515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90000"/>
              </a:lnSpc>
            </a:pPr>
            <a:r>
              <a:rPr lang="en-US" altLang="zh-CN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Let differences become the norm</a:t>
            </a:r>
            <a:endParaRPr lang="en-US" altLang="zh-CN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62050" y="2184400"/>
            <a:ext cx="98679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小煦的困境是系统性的，但破局之道亦清晰。</a:t>
            </a:r>
            <a:endParaRPr lang="en-US" sz="18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</a:t>
            </a:r>
            <a:r>
              <a:rPr lang="en-US" sz="1800" dirty="0">
                <a:solidFill>
                  <a:srgbClr val="333333"/>
                </a:solidFill>
                <a:highlight>
                  <a:srgbClr val="FFC107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个性化、多协同、全链条 </a:t>
            </a:r>
            <a:r>
              <a:rPr lang="en-US" sz="1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的支持，双症交织的困局必将迎来突围。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98186" y="3302000"/>
            <a:ext cx="3898900" cy="1320800"/>
          </a:xfrm>
          <a:custGeom>
            <a:avLst/>
            <a:gdLst/>
            <a:ahLst/>
            <a:cxnLst/>
            <a:rect l="l" t="t" r="r" b="b"/>
            <a:pathLst>
              <a:path w="3898900" h="13208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219204"/>
                </a:lnTo>
                <a:cubicBezTo>
                  <a:pt x="3898900" y="1275314"/>
                  <a:pt x="3853414" y="1320800"/>
                  <a:pt x="37973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2150586" y="3505200"/>
            <a:ext cx="3594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56936" y="39116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困境源于</a:t>
            </a: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制度、教学、技术、文化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的多重缺失，需系统性解决方案。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99200" y="3302000"/>
            <a:ext cx="3898900" cy="1320800"/>
          </a:xfrm>
          <a:custGeom>
            <a:avLst/>
            <a:gdLst/>
            <a:ahLst/>
            <a:cxnLst/>
            <a:rect l="l" t="t" r="r" b="b"/>
            <a:pathLst>
              <a:path w="3898900" h="13208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219204"/>
                </a:lnTo>
                <a:cubicBezTo>
                  <a:pt x="3898900" y="1275314"/>
                  <a:pt x="3853414" y="1320800"/>
                  <a:pt x="37973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451600" y="3505200"/>
            <a:ext cx="3594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56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7950" y="39116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当小煦能实现</a:t>
            </a: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15分钟专注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独立洗漱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，其进步将证明融合教育的价值。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5330" y="616331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让融合教育，真正做到“一个都不能少”。</a:t>
            </a:r>
            <a:endParaRPr 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3"/>
          <p:cNvSpPr/>
          <p:nvPr/>
        </p:nvSpPr>
        <p:spPr>
          <a:xfrm>
            <a:off x="3688715" y="4875530"/>
            <a:ext cx="481457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5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MiSans" pitchFamily="34" charset="0"/>
                <a:ea typeface="MiSans" pitchFamily="34" charset="-122"/>
                <a:cs typeface="MiSans" pitchFamily="34" charset="-120"/>
              </a:rPr>
              <a:t>THANK YOU </a:t>
            </a:r>
            <a:endParaRPr lang="en-US" sz="5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449310" y="6109970"/>
            <a:ext cx="347091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汇报人：葛晶晶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2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3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4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5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6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7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8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9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0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1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2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3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4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5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6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7.xml><?xml version="1.0" encoding="utf-8"?>
<p:tagLst xmlns:p="http://schemas.openxmlformats.org/presentationml/2006/main">
  <p:tag name="KSO_WM_DIAGRAM_VIRTUALLY_FRAME" val="{&quot;height&quot;:245,&quot;left&quot;:180,&quot;top&quot;:213.95,&quot;width&quot;:603.5}"/>
</p:tagLst>
</file>

<file path=ppt/tags/tag18.xml><?xml version="1.0" encoding="utf-8"?>
<p:tagLst xmlns:p="http://schemas.openxmlformats.org/presentationml/2006/main">
  <p:tag name="KSO_WM_DIAGRAM_VIRTUALLY_FRAME" val="{&quot;height&quot;:208,&quot;left&quot;:20,&quot;top&quot;:246,&quot;width&quot;:428}"/>
</p:tagLst>
</file>

<file path=ppt/tags/tag19.xml><?xml version="1.0" encoding="utf-8"?>
<p:tagLst xmlns:p="http://schemas.openxmlformats.org/presentationml/2006/main">
  <p:tag name="KSO_WM_DIAGRAM_VIRTUALLY_FRAME" val="{&quot;height&quot;:208,&quot;left&quot;:20,&quot;top&quot;:246,&quot;width&quot;:428}"/>
</p:tagLst>
</file>

<file path=ppt/tags/tag20.xml><?xml version="1.0" encoding="utf-8"?>
<p:tagLst xmlns:p="http://schemas.openxmlformats.org/presentationml/2006/main">
  <p:tag name="KSO_WM_DIAGRAM_VIRTUALLY_FRAME" val="{&quot;height&quot;:208,&quot;left&quot;:20,&quot;top&quot;:246,&quot;width&quot;:428}"/>
</p:tagLst>
</file>

<file path=ppt/tags/tag21.xml><?xml version="1.0" encoding="utf-8"?>
<p:tagLst xmlns:p="http://schemas.openxmlformats.org/presentationml/2006/main">
  <p:tag name="KSO_WM_DIAGRAM_VIRTUALLY_FRAME" val="{&quot;height&quot;:208,&quot;left&quot;:20,&quot;top&quot;:246,&quot;width&quot;:428}"/>
</p:tagLst>
</file>

<file path=ppt/tags/tag22.xml><?xml version="1.0" encoding="utf-8"?>
<p:tagLst xmlns:p="http://schemas.openxmlformats.org/presentationml/2006/main">
  <p:tag name="KSO_WM_DIAGRAM_VIRTUALLY_FRAME" val="{&quot;height&quot;:208,&quot;left&quot;:20,&quot;top&quot;:246,&quot;width&quot;:428}"/>
</p:tagLst>
</file>

<file path=ppt/tags/tag23.xml><?xml version="1.0" encoding="utf-8"?>
<p:tagLst xmlns:p="http://schemas.openxmlformats.org/presentationml/2006/main">
  <p:tag name="KSO_WM_DIAGRAM_VIRTUALLY_FRAME" val="{&quot;height&quot;:208,&quot;left&quot;:20,&quot;top&quot;:246,&quot;width&quot;:428}"/>
</p:tagLst>
</file>

<file path=ppt/tags/tag24.xml><?xml version="1.0" encoding="utf-8"?>
<p:tagLst xmlns:p="http://schemas.openxmlformats.org/presentationml/2006/main">
  <p:tag name="KSO_WM_DIAGRAM_VIRTUALLY_FRAME" val="{&quot;height&quot;:164,&quot;left&quot;:532,&quot;top&quot;:250,&quot;width&quot;:372}"/>
</p:tagLst>
</file>

<file path=ppt/tags/tag25.xml><?xml version="1.0" encoding="utf-8"?>
<p:tagLst xmlns:p="http://schemas.openxmlformats.org/presentationml/2006/main">
  <p:tag name="KSO_WM_DIAGRAM_VIRTUALLY_FRAME" val="{&quot;height&quot;:164,&quot;left&quot;:532,&quot;top&quot;:250,&quot;width&quot;:372}"/>
</p:tagLst>
</file>

<file path=ppt/tags/tag26.xml><?xml version="1.0" encoding="utf-8"?>
<p:tagLst xmlns:p="http://schemas.openxmlformats.org/presentationml/2006/main">
  <p:tag name="KSO_WM_DIAGRAM_VIRTUALLY_FRAME" val="{&quot;height&quot;:164,&quot;left&quot;:532,&quot;top&quot;:250,&quot;width&quot;:372}"/>
</p:tagLst>
</file>

<file path=ppt/tags/tag27.xml><?xml version="1.0" encoding="utf-8"?>
<p:tagLst xmlns:p="http://schemas.openxmlformats.org/presentationml/2006/main">
  <p:tag name="KSO_WM_DIAGRAM_VIRTUALLY_FRAME" val="{&quot;height&quot;:164,&quot;left&quot;:532,&quot;top&quot;:250,&quot;width&quot;:372}"/>
</p:tagLst>
</file>

<file path=ppt/tags/tag28.xml><?xml version="1.0" encoding="utf-8"?>
<p:tagLst xmlns:p="http://schemas.openxmlformats.org/presentationml/2006/main">
  <p:tag name="KSO_WM_DIAGRAM_VIRTUALLY_FRAME" val="{&quot;height&quot;:164,&quot;left&quot;:532,&quot;top&quot;:250,&quot;width&quot;:372}"/>
</p:tagLst>
</file>

<file path=ppt/tags/tag29.xml><?xml version="1.0" encoding="utf-8"?>
<p:tagLst xmlns:p="http://schemas.openxmlformats.org/presentationml/2006/main">
  <p:tag name="KSO_WM_DIAGRAM_VIRTUALLY_FRAME" val="{&quot;height&quot;:164,&quot;left&quot;:532,&quot;top&quot;:250,&quot;width&quot;:372}"/>
</p:tagLst>
</file>

<file path=ppt/tags/tag30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1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2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3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4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5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6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7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8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39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40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ags/tag41.xml><?xml version="1.0" encoding="utf-8"?>
<p:tagLst xmlns:p="http://schemas.openxmlformats.org/presentationml/2006/main">
  <p:tag name="KSO_WM_DIAGRAM_VIRTUALLY_FRAME" val="{&quot;height&quot;:152,&quot;left&quot;:31.5,&quot;top&quot;:264,&quot;width&quot;:897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7014</Words>
  <Application>WPS 演示</Application>
  <PresentationFormat>On-screen Show (16:9)</PresentationFormat>
  <Paragraphs>405</Paragraphs>
  <Slides>32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宋体</vt:lpstr>
      <vt:lpstr>Wingdings</vt:lpstr>
      <vt:lpstr>MiSans</vt:lpstr>
      <vt:lpstr>MiSans Semibold</vt:lpstr>
      <vt:lpstr>MiSans</vt:lpstr>
      <vt:lpstr>MiSans</vt:lpstr>
      <vt:lpstr>微软雅黑</vt:lpstr>
      <vt:lpstr>Noto Sans SC</vt:lpstr>
      <vt:lpstr>Noto Sans SC</vt:lpstr>
      <vt:lpstr>Calibri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ADHD+感统失调融合教育突围</dc:title>
  <dc:creator>Kimi</dc:creator>
  <dc:subject>ADHD+感统失调融合教育突围</dc:subject>
  <cp:lastModifiedBy>汤姆</cp:lastModifiedBy>
  <cp:revision>15</cp:revision>
  <dcterms:created xsi:type="dcterms:W3CDTF">2025-11-29T08:38:00Z</dcterms:created>
  <dcterms:modified xsi:type="dcterms:W3CDTF">2025-11-29T13:12:51Z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{"Label":"ADHD+感统失调融合教育突围","ContentProducer":"001191110108MACG2KBH8F10000","ProduceID":"d4laoobfosllp9er6e7g","ReservedCode1":"","ContentPropagator":"001191110108MACG2KBH8F20000","PropagateID":"d4laoobfosllp9er6e7g","ReservedCode2":""}</vt:lpwstr>
  </property>
  <property fmtid="{D5CDD505-2E9C-101B-9397-08002B2CF9AE}" pid="3" name="ICV">
    <vt:lpwstr>08275CD8B50B4EEFB5C33FD83C797BD5_12</vt:lpwstr>
  </property>
  <property fmtid="{D5CDD505-2E9C-101B-9397-08002B2CF9AE}" pid="4" name="KSOProductBuildVer">
    <vt:lpwstr>2052-12.1.0.23542</vt:lpwstr>
  </property>
</Properties>
</file>